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309" r:id="rId2"/>
    <p:sldId id="324" r:id="rId3"/>
    <p:sldId id="325" r:id="rId4"/>
    <p:sldId id="330" r:id="rId5"/>
    <p:sldId id="331" r:id="rId6"/>
    <p:sldId id="326" r:id="rId7"/>
    <p:sldId id="327" r:id="rId8"/>
    <p:sldId id="328" r:id="rId9"/>
    <p:sldId id="329" r:id="rId10"/>
    <p:sldId id="332" r:id="rId11"/>
    <p:sldId id="333" r:id="rId12"/>
    <p:sldId id="334" r:id="rId13"/>
    <p:sldId id="335" r:id="rId14"/>
    <p:sldId id="260" r:id="rId15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47"/>
    <p:restoredTop sz="94655"/>
  </p:normalViewPr>
  <p:slideViewPr>
    <p:cSldViewPr>
      <p:cViewPr varScale="1">
        <p:scale>
          <a:sx n="81" d="100"/>
          <a:sy n="81" d="100"/>
        </p:scale>
        <p:origin x="156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r">
              <a:defRPr sz="1200"/>
            </a:lvl1pPr>
          </a:lstStyle>
          <a:p>
            <a:fld id="{ADB6FF1F-555E-4388-A8B0-D1E524B355D1}" type="datetimeFigureOut">
              <a:rPr lang="pt-PT" smtClean="0"/>
              <a:pPr/>
              <a:t>14/06/2026</a:t>
            </a:fld>
            <a:endParaRPr lang="pt-PT"/>
          </a:p>
        </p:txBody>
      </p:sp>
      <p:sp>
        <p:nvSpPr>
          <p:cNvPr id="4" name="Marcador de Posição do Rodapé 3"/>
          <p:cNvSpPr>
            <a:spLocks noGrp="1"/>
          </p:cNvSpPr>
          <p:nvPr>
            <p:ph type="ftr" sz="quarter" idx="2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Marcador de Posição do Número do Diapositivo 4"/>
          <p:cNvSpPr>
            <a:spLocks noGrp="1"/>
          </p:cNvSpPr>
          <p:nvPr>
            <p:ph type="sldNum" sz="quarter" idx="3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r">
              <a:defRPr sz="1200"/>
            </a:lvl1pPr>
          </a:lstStyle>
          <a:p>
            <a:fld id="{CD9FB018-1958-45C1-ABFF-E1E983EC4F43}" type="slidenum">
              <a:rPr lang="pt-PT" smtClean="0"/>
              <a:pPr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34781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r">
              <a:defRPr sz="1200"/>
            </a:lvl1pPr>
          </a:lstStyle>
          <a:p>
            <a:fld id="{E77E319B-B046-487F-8D03-B96E4F1A43D0}" type="datetimeFigureOut">
              <a:rPr lang="pt-PT" smtClean="0"/>
              <a:pPr/>
              <a:t>14/06/2026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8" tIns="47384" rIns="94768" bIns="47384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768" tIns="47384" rIns="94768" bIns="47384" rtlCol="0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r">
              <a:defRPr sz="1200"/>
            </a:lvl1pPr>
          </a:lstStyle>
          <a:p>
            <a:fld id="{F3DD545E-D36A-4832-938A-2ECADA69E4C6}" type="slidenum">
              <a:rPr lang="pt-PT" smtClean="0"/>
              <a:pPr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37761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D545E-D36A-4832-938A-2ECADA69E4C6}" type="slidenum">
              <a:rPr lang="pt-PT" smtClean="0"/>
              <a:pPr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10073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046F3-8C6E-4392-0016-84348ABE8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EB035F3D-549E-6299-25F4-ADD4F2FBAF9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2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8B496488-88F1-A2BE-27E6-620F9B561D6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EB182635-D6A2-DB76-1269-D4222A4E88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408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F4C48-9645-A5E1-C63B-6C04E1566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8DBE699D-C65C-471E-0BB5-3879A6FB94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3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6F9D0696-59EA-DB86-3BF1-519CA528627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F43D798C-1B09-D473-DEC3-D03CD64A1D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398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92844-375A-1F93-E008-B502F8F69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E69E6528-DAD4-1363-06B8-3C02A36CEA4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4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26B1C09F-DA29-0286-6289-45159154749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EF56E575-1071-0F8B-7764-CD2622FD65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65561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33D9B-50E9-B3A3-038F-919CEFDD9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8D8A576F-524F-0AFC-3AA3-FE26E61F15F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5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DE758F7E-DA98-40C1-BE08-874262601A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604B7AC8-F79A-359C-560C-B704734F77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6445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4B109-A794-9B9D-4B77-2214C984A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FC83FBD8-113E-9A31-1D27-2AA5BF6A6B4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6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B4FEFADF-3DC7-2FDB-F5E4-693AA160F6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A831B8ED-79AF-152A-06A6-BC90A7DB9D3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470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AB6A3-FF83-8AFE-14C0-EEB53CDF1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9F0A0772-2E34-38AC-F429-9D1D0C9E505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7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0B4B185E-5702-1621-25F0-14D199F36BA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94162DB0-5FE4-BEF0-EAB8-C8B5AE0204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3555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424CF-BA2F-53A5-C525-DFC776443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2044936D-EE37-0317-CB52-B10F9F22419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8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84B8D779-3DA5-158C-91DA-B80E406645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AFF1345A-DE29-B079-BD4B-E1E767A1B9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14030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DDE7-660A-D6C2-AD15-4FDFF1C6D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C8AC696E-B8DA-1EE0-ECF5-8356662EBC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9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62281B27-8673-3C16-A994-3C8AD5BD215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20F9BBDF-93E7-29ED-BF08-C56E5978B5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6520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ACA51-4557-2C31-0B18-421CB7E72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3EA2C36D-9FF7-FA7F-350F-9914E0341C0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10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62DD3DE9-317B-B37E-90B4-B057ADA6A5B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BDE4BCD5-9753-07A9-BF14-9BA97166FD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70183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019A-8201-79EF-9A06-05D9F644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F1439FD9-5B4A-1C24-125F-C423A9395DE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11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6949F741-9A73-1B83-2AB0-8F59E941B54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0014C0A9-6939-4788-6B12-1751357016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101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3AF3E-760F-8BF2-81A2-326708C2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9CA78A49-8B0C-435A-BE6F-4BBF77190C5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12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0BC87C76-066D-7788-AC23-AE8233073CA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C8B07F2F-FD42-DB91-68ED-0F0084D272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45207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79222-DB2E-3E60-DCE7-6068D8C6F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>
            <a:extLst>
              <a:ext uri="{FF2B5EF4-FFF2-40B4-BE49-F238E27FC236}">
                <a16:creationId xmlns:a16="http://schemas.microsoft.com/office/drawing/2014/main" id="{790F0B10-EE08-A893-4FA6-2850EDEDE3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D1F5F-AB60-452E-AA79-64E25350F70B}" type="slidenum">
              <a:rPr lang="pt-PT" smtClean="0">
                <a:latin typeface="Arial" pitchFamily="34" charset="0"/>
              </a:rPr>
              <a:pPr/>
              <a:t>13</a:t>
            </a:fld>
            <a:endParaRPr lang="pt-PT">
              <a:latin typeface="Arial" pitchFamily="34" charset="0"/>
            </a:endParaRPr>
          </a:p>
        </p:txBody>
      </p:sp>
      <p:sp>
        <p:nvSpPr>
          <p:cNvPr id="93187" name="Rectangle 2">
            <a:extLst>
              <a:ext uri="{FF2B5EF4-FFF2-40B4-BE49-F238E27FC236}">
                <a16:creationId xmlns:a16="http://schemas.microsoft.com/office/drawing/2014/main" id="{80CBD063-850B-BCA6-212A-DD5ABC58D6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>
            <a:extLst>
              <a:ext uri="{FF2B5EF4-FFF2-40B4-BE49-F238E27FC236}">
                <a16:creationId xmlns:a16="http://schemas.microsoft.com/office/drawing/2014/main" id="{7DD4BCD8-6052-D7AB-4451-ECAD92F1AE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pt-PT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548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Faça clique para editar o estilo do subtítulo do modelo global</a:t>
            </a:r>
            <a:endParaRPr lang="en-US"/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de texto do modelo global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e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de texto do modelo global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Marcador de Posição do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de texto do modelo global</a:t>
            </a:r>
          </a:p>
        </p:txBody>
      </p:sp>
      <p:sp>
        <p:nvSpPr>
          <p:cNvPr id="6" name="Marcador de Posição de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7" name="Marcador de Posição d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8" name="Marcador de Posição do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Posição do Número do Diapositivo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4" name="Marcador de Posição do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Posição do Número do Diapositivo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3" name="Marcador de Posição do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de texto do modelo global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de texto do modelo global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do título do Modelo Global</a:t>
            </a:r>
            <a:endParaRPr lang="en-US"/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A3E61B-3AB3-490F-90D4-269C8A444AE7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45C66F-FC7B-4C52-931F-EAABACA1CBDF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filipacalheiros@ipvc.pt" TargetMode="External"/><Relationship Id="rId5" Type="http://schemas.openxmlformats.org/officeDocument/2006/relationships/hyperlink" Target="mailto:inesdelgado@ipvc.pt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7.png"/><Relationship Id="rId4" Type="http://schemas.openxmlformats.org/officeDocument/2006/relationships/image" Target="../media/image4.png"/><Relationship Id="rId9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5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1.xml"/><Relationship Id="rId9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772" y="0"/>
            <a:ext cx="9982200" cy="6858000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905000" y="2793076"/>
            <a:ext cx="5486400" cy="552329"/>
          </a:xfrm>
        </p:spPr>
        <p:txBody>
          <a:bodyPr>
            <a:normAutofit fontScale="90000"/>
          </a:bodyPr>
          <a:lstStyle/>
          <a:p>
            <a:r>
              <a:rPr lang="pt-PT" sz="2500" b="1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LICENCIATURA EM ENGENHARIA INFORMÁTICA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14549" y="3452877"/>
            <a:ext cx="5486400" cy="1435310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pt-PT" b="1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</a:rPr>
              <a:t>OPÇÃO II – APRENDIZAGEM ORGANIZACIONAL/ SISTEMAS DE SUPORTE À DECISÃO</a:t>
            </a:r>
          </a:p>
          <a:p>
            <a:pPr>
              <a:lnSpc>
                <a:spcPct val="170000"/>
              </a:lnSpc>
            </a:pPr>
            <a:r>
              <a:rPr lang="pt-PT" b="1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Classificação de atributos de vestuário</a:t>
            </a:r>
          </a:p>
          <a:p>
            <a:endParaRPr lang="pt-PT" sz="430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Subtítulo 2"/>
          <p:cNvSpPr txBox="1">
            <a:spLocks/>
          </p:cNvSpPr>
          <p:nvPr/>
        </p:nvSpPr>
        <p:spPr>
          <a:xfrm>
            <a:off x="762000" y="6394330"/>
            <a:ext cx="8191499" cy="276444"/>
          </a:xfrm>
          <a:prstGeom prst="rect">
            <a:avLst/>
          </a:prstGeom>
        </p:spPr>
        <p:txBody>
          <a:bodyPr vert="horz" lIns="68580" tIns="34290" rIns="68580" bIns="3429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1100" b="1" u="sng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Licenciatura em Engenharia Informática</a:t>
            </a:r>
            <a:r>
              <a:rPr lang="pt-PT" sz="11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 | Escola Superior de Tecnologia e Gestão| Unidade Curricular: Op2-AO / SSD | Ano Letivo 2025/2026</a:t>
            </a:r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130" y="392731"/>
            <a:ext cx="3872752" cy="962356"/>
          </a:xfrm>
          <a:prstGeom prst="rect">
            <a:avLst/>
          </a:prstGeom>
        </p:spPr>
      </p:pic>
      <p:sp>
        <p:nvSpPr>
          <p:cNvPr id="10" name="Subtítulo 2">
            <a:extLst>
              <a:ext uri="{FF2B5EF4-FFF2-40B4-BE49-F238E27FC236}">
                <a16:creationId xmlns:a16="http://schemas.microsoft.com/office/drawing/2014/main" id="{CDB7617E-BD9F-40A8-BCFA-781CEC4CEE46}"/>
              </a:ext>
            </a:extLst>
          </p:cNvPr>
          <p:cNvSpPr txBox="1">
            <a:spLocks/>
          </p:cNvSpPr>
          <p:nvPr/>
        </p:nvSpPr>
        <p:spPr>
          <a:xfrm>
            <a:off x="4953494" y="5615784"/>
            <a:ext cx="4647705" cy="63261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15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Jorge Ribeiro                      Abel Dantas</a:t>
            </a:r>
          </a:p>
          <a:p>
            <a:pPr algn="l"/>
            <a:r>
              <a:rPr lang="pt-PT" sz="15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jribeiro@estg.ipvc.pt          abeldantas@estg.ipvc.pt</a:t>
            </a:r>
          </a:p>
          <a:p>
            <a:pPr algn="l"/>
            <a:endParaRPr lang="pt-PT" sz="105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  <a:p>
            <a:pPr algn="l"/>
            <a:endParaRPr lang="pt-PT" sz="105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  <a:p>
            <a:pPr algn="l"/>
            <a:endParaRPr lang="pt-PT" sz="105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691EC4ED-17BC-435A-9221-66A1A252A082}"/>
              </a:ext>
            </a:extLst>
          </p:cNvPr>
          <p:cNvSpPr txBox="1">
            <a:spLocks/>
          </p:cNvSpPr>
          <p:nvPr/>
        </p:nvSpPr>
        <p:spPr>
          <a:xfrm>
            <a:off x="1483178" y="5635668"/>
            <a:ext cx="3486150" cy="57143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1050" dirty="0">
                <a:solidFill>
                  <a:schemeClr val="bg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rPr>
              <a:t>Nº 31414 – Inês Delgado  Nº </a:t>
            </a:r>
            <a:r>
              <a:rPr lang="pt-PT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31427</a:t>
            </a:r>
            <a:r>
              <a:rPr lang="pt-PT" sz="1050" dirty="0">
                <a:solidFill>
                  <a:schemeClr val="bg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rPr>
              <a:t> – Filipa Calheiros</a:t>
            </a:r>
          </a:p>
          <a:p>
            <a:pPr algn="l"/>
            <a:r>
              <a:rPr lang="pt-PT" sz="1050" dirty="0">
                <a:solidFill>
                  <a:schemeClr val="bg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  <a:hlinkClick r:id="rId5"/>
              </a:rPr>
              <a:t>inesdelgado@ipvc.pt</a:t>
            </a:r>
            <a:r>
              <a:rPr lang="pt-PT" sz="1050" dirty="0">
                <a:solidFill>
                  <a:schemeClr val="bg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rPr>
              <a:t>         </a:t>
            </a:r>
            <a:r>
              <a:rPr lang="pt-PT" sz="1050" dirty="0">
                <a:solidFill>
                  <a:schemeClr val="bg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  <a:hlinkClick r:id="rId6"/>
              </a:rPr>
              <a:t>filipacalheiros@ipvc.pt</a:t>
            </a:r>
            <a:endParaRPr lang="pt-PT" sz="1050" dirty="0">
              <a:solidFill>
                <a:schemeClr val="bg1"/>
              </a:solidFill>
              <a:latin typeface="Arial" panose="020B0604020202020204" pitchFamily="34" charset="0"/>
              <a:ea typeface="Arial" charset="0"/>
              <a:cs typeface="Arial" panose="020B0604020202020204" pitchFamily="34" charset="0"/>
            </a:endParaRPr>
          </a:p>
          <a:p>
            <a:pPr algn="l"/>
            <a:endParaRPr lang="pt-PT" sz="1050" dirty="0">
              <a:solidFill>
                <a:schemeClr val="bg1"/>
              </a:solidFill>
              <a:latin typeface="Arial" panose="020B0604020202020204" pitchFamily="34" charset="0"/>
              <a:ea typeface="Arial" charset="0"/>
              <a:cs typeface="Arial" panose="020B0604020202020204" pitchFamily="34" charset="0"/>
            </a:endParaRPr>
          </a:p>
          <a:p>
            <a:pPr algn="l"/>
            <a:endParaRPr lang="pt-PT" sz="105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  <a:p>
            <a:pPr algn="l"/>
            <a:endParaRPr lang="pt-PT" sz="105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2301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5E732-E356-5C15-806C-1F5DAF442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9DABAAD2-2263-1875-7812-E36AE3EA48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Índice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770A9366-35F6-0769-4019-74D886E5AE03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016BAC93-8AFA-B196-C7D2-8BCECC2FA5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40C89B3-FE41-EC35-6372-71D66B4D2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1818702D-7D20-1140-AF6C-FA08BB63A147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8548BA8E-529E-88D2-349A-0F0D45EDA6E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B938DC52-A105-05C0-413A-6447788356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EC80C377-2242-D3DD-F633-0FAF7DDFF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2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B2072A8E-7103-6C65-8E53-BDC58CA81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7511EF1D-F65A-46AE-ADF3-FEC34A08A484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1BCDAEBD-34DB-BA4B-748D-E1E481375FF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E33FB35B-08F2-37C3-5C2A-88DD2A43F1E7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283CEDD5-92A5-5062-091C-9CC56BF642F2}"/>
              </a:ext>
            </a:extLst>
          </p:cNvPr>
          <p:cNvSpPr txBox="1"/>
          <p:nvPr/>
        </p:nvSpPr>
        <p:spPr>
          <a:xfrm>
            <a:off x="321136" y="1246261"/>
            <a:ext cx="7467600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Objetivos do projeto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 preparação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Arquitetura do Sistema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Modelo e treino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Resultados do treino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Exemplo de inferência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Aplicação web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Vídeo da aplicação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Limitações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93565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7A37-DB2C-74EB-DE97-ECE416CBE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DE3E9910-B08B-0D45-113A-57C8C8E072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Problema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E7F3CE53-A063-2151-F5D6-57C54F571372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37B82DEA-6C7E-72E3-D247-FB27227579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95B0DB2-271F-F743-EBEA-2B612F7B8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BDF6559A-8206-9E57-DBEA-0248DAED8D76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B5BB2AD8-8FAC-F3A7-51EF-318FDFDABD8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D2F3C443-BE2E-C744-484B-60B6C698F5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FAC38E5A-6981-4082-51DF-3CB79184D8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3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2E21490D-FAF5-9311-EBAC-C91CC637C8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ABE10B96-AAD1-01DE-03A8-D71AA5B90E27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73F59C59-A58E-FA7B-F881-36F30BF36A8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FE07F293-2C05-B667-4650-9F43884FA44A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4E6A2F2D-1E66-4654-B1F8-F2A65819360B}"/>
              </a:ext>
            </a:extLst>
          </p:cNvPr>
          <p:cNvSpPr txBox="1"/>
          <p:nvPr/>
        </p:nvSpPr>
        <p:spPr>
          <a:xfrm>
            <a:off x="450370" y="1425050"/>
            <a:ext cx="7785475" cy="2343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dirty="0">
                <a:latin typeface="Arial" panose="020B0604020202020204" pitchFamily="34" charset="0"/>
                <a:cs typeface="Arial" panose="020B0604020202020204" pitchFamily="34" charset="0"/>
              </a:rPr>
              <a:t>Em lojas online, as peças precisam de etiquetas como material, padrão, corte ou estilo.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dirty="0">
                <a:latin typeface="Arial" panose="020B0604020202020204" pitchFamily="34" charset="0"/>
                <a:cs typeface="Arial" panose="020B0604020202020204" pitchFamily="34" charset="0"/>
              </a:rPr>
              <a:t>A etiquetagem manual é lenta e pode ser inconsistente.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dirty="0">
                <a:latin typeface="Arial" panose="020B0604020202020204" pitchFamily="34" charset="0"/>
                <a:cs typeface="Arial" panose="020B0604020202020204" pitchFamily="34" charset="0"/>
              </a:rPr>
              <a:t>Uma única imagem pode ter vários atributos ao mesmo tempo.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000" dirty="0">
                <a:latin typeface="Arial" panose="020B0604020202020204" pitchFamily="34" charset="0"/>
                <a:cs typeface="Arial" panose="020B0604020202020204" pitchFamily="34" charset="0"/>
              </a:rPr>
              <a:t>A ideia foi automatizar esta tarefa com visão por computador.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01DF225-9F69-B2CA-8F90-977A6DBF53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307" y="3803942"/>
            <a:ext cx="2895600" cy="2426043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2495181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8DF7-C25F-ADAB-5DBA-CDA4707E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405D9525-25FE-CF02-2FDC-767348F5FA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Objetivo do projeto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FEB47C49-A542-7607-87C6-0F651DEB3ADB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272EB773-BC2C-0EED-9BA3-7F1D1D6E2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B13AC12-472C-97B6-BBC2-EFBE5B70D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7E61080D-C85A-0884-8CFA-D09F74BF8F03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59AABD60-B387-8F4D-C037-C8096F8F5C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864012A3-F918-7EC9-4E51-964039C7D9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9E45D02C-A4B4-3D0E-7015-5DCAB6425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4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EA9D1C58-E1F7-6157-0942-C908102645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EDE8D815-E218-6680-96A5-A0A019C1EF07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2ACE9367-9F4A-5546-E77B-F0CA867FBF5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6C3BDF1-CFB0-A261-75F9-DD0374341CB7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125E7446-7FDB-558C-E421-23DE5A11B30C}"/>
              </a:ext>
            </a:extLst>
          </p:cNvPr>
          <p:cNvSpPr txBox="1"/>
          <p:nvPr/>
        </p:nvSpPr>
        <p:spPr>
          <a:xfrm>
            <a:off x="450370" y="1425050"/>
            <a:ext cx="778547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Preparar os dados do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DeepFashion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Treinar um modelo capaz de prever vários atributos por imagem.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Guardar o melhor checkpoint do treino.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Criar uma aplicação web simples para demonstrar o funcionamento.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F6FBDCA-F72D-C559-6908-E96CB6AD04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218" y="3890980"/>
            <a:ext cx="7028206" cy="1607759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90637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FCED5-817A-6F90-A889-4558BEF8A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D3FFF97A-41C2-65BB-1BB7-2F3262771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</a:t>
            </a:r>
            <a:r>
              <a:rPr lang="pt-PT" sz="2000" b="1" dirty="0" err="1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Dataset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e preparação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B892970C-990B-7F10-55BA-81BA8A90C566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A4E9D69E-B1B3-3A0E-1C1C-83E91056A2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3FC873-7E46-E3CA-4427-AE254EDC5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A349EB63-AAE0-5F7A-A951-52D5DD91AA56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8F2E9F45-6110-3081-9A32-2AAAFC44B0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3A3DCB2A-6554-5714-EB95-3F9DA9B25F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3C982720-351F-F268-D352-92A09A388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5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828A1708-5A3F-C7D9-C08C-9266EE7B76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4131C824-D554-E423-1F3B-28E05E30B4D6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CC59A3DB-CE63-48C7-B482-44EA1733B99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47344BAE-080C-805D-47E8-14B5E3E8CFE5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103687FF-C0EA-318E-9DB6-2A719F091048}"/>
              </a:ext>
            </a:extLst>
          </p:cNvPr>
          <p:cNvSpPr txBox="1"/>
          <p:nvPr/>
        </p:nvSpPr>
        <p:spPr>
          <a:xfrm>
            <a:off x="502863" y="1966377"/>
            <a:ext cx="795533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E1E22"/>
                </a:solidFill>
                <a:latin typeface="Calibri"/>
              </a:defRPr>
            </a:pP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usado: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DeepFashion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Foi criado um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metadata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com os caminhos das imagens,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split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 atributos.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O ficheiro usado no treino final foi o metadata_filtered.csv.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Divisão: 209169 treino, 39990 validação e 39988 teste.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C6BD96A-83C8-69F9-2083-00802E1B3CF1}"/>
              </a:ext>
            </a:extLst>
          </p:cNvPr>
          <p:cNvSpPr txBox="1"/>
          <p:nvPr/>
        </p:nvSpPr>
        <p:spPr>
          <a:xfrm>
            <a:off x="511104" y="1236247"/>
            <a:ext cx="4629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1800" b="1" dirty="0">
                <a:solidFill>
                  <a:srgbClr val="008278"/>
                </a:solidFill>
                <a:latin typeface="Calibri"/>
              </a:rPr>
              <a:t>289147</a:t>
            </a:r>
            <a:endParaRPr lang="pt-PT" dirty="0"/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E58F490E-1E31-117E-A3FE-9BB27CACB50D}"/>
              </a:ext>
            </a:extLst>
          </p:cNvPr>
          <p:cNvSpPr txBox="1"/>
          <p:nvPr/>
        </p:nvSpPr>
        <p:spPr>
          <a:xfrm>
            <a:off x="511104" y="152438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>
                <a:solidFill>
                  <a:srgbClr val="5C5C66"/>
                </a:solidFill>
                <a:latin typeface="Calibri"/>
              </a:rPr>
              <a:t>imagens </a:t>
            </a:r>
            <a:r>
              <a:rPr sz="1100" b="0" dirty="0" err="1">
                <a:solidFill>
                  <a:srgbClr val="5C5C66"/>
                </a:solidFill>
                <a:latin typeface="Calibri"/>
              </a:rPr>
              <a:t>válidas</a:t>
            </a:r>
            <a:r>
              <a:rPr sz="1100" b="0" dirty="0">
                <a:solidFill>
                  <a:srgbClr val="5C5C66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5C5C66"/>
                </a:solidFill>
                <a:latin typeface="Calibri"/>
              </a:rPr>
              <a:t>depois</a:t>
            </a:r>
            <a:r>
              <a:rPr sz="1100" b="0" dirty="0">
                <a:solidFill>
                  <a:srgbClr val="5C5C66"/>
                </a:solidFill>
                <a:latin typeface="Calibri"/>
              </a:rPr>
              <a:t> da </a:t>
            </a:r>
            <a:r>
              <a:rPr sz="1100" b="0" dirty="0" err="1">
                <a:solidFill>
                  <a:srgbClr val="5C5C66"/>
                </a:solidFill>
                <a:latin typeface="Calibri"/>
              </a:rPr>
              <a:t>filtragem</a:t>
            </a:r>
            <a:endParaRPr sz="1100" b="0" dirty="0">
              <a:solidFill>
                <a:srgbClr val="5C5C66"/>
              </a:solidFill>
              <a:latin typeface="Calibri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CF2068EB-A0F4-CB97-D34E-5D0303B779C0}"/>
              </a:ext>
            </a:extLst>
          </p:cNvPr>
          <p:cNvSpPr txBox="1"/>
          <p:nvPr/>
        </p:nvSpPr>
        <p:spPr>
          <a:xfrm>
            <a:off x="3577081" y="1221979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dirty="0">
                <a:solidFill>
                  <a:srgbClr val="3034AE"/>
                </a:solidFill>
                <a:latin typeface="Calibri"/>
              </a:rPr>
              <a:t>50</a:t>
            </a: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6BA909D5-62B2-0D39-2C15-72DF81FE99F6}"/>
              </a:ext>
            </a:extLst>
          </p:cNvPr>
          <p:cNvSpPr txBox="1"/>
          <p:nvPr/>
        </p:nvSpPr>
        <p:spPr>
          <a:xfrm>
            <a:off x="3577081" y="154258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 err="1">
                <a:solidFill>
                  <a:srgbClr val="5C5C66"/>
                </a:solidFill>
                <a:latin typeface="Calibri"/>
              </a:rPr>
              <a:t>atributos</a:t>
            </a:r>
            <a:r>
              <a:rPr sz="1100" b="0" dirty="0">
                <a:solidFill>
                  <a:srgbClr val="5C5C66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5C5C66"/>
                </a:solidFill>
                <a:latin typeface="Calibri"/>
              </a:rPr>
              <a:t>selecionados</a:t>
            </a:r>
            <a:endParaRPr sz="1100" b="0" dirty="0">
              <a:solidFill>
                <a:srgbClr val="5C5C66"/>
              </a:solidFill>
              <a:latin typeface="Calibri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0A77649F-F928-A0D5-5FBD-530BF641F3A2}"/>
              </a:ext>
            </a:extLst>
          </p:cNvPr>
          <p:cNvSpPr txBox="1"/>
          <p:nvPr/>
        </p:nvSpPr>
        <p:spPr>
          <a:xfrm>
            <a:off x="6338566" y="123177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dirty="0">
                <a:solidFill>
                  <a:srgbClr val="AF4646"/>
                </a:solidFill>
                <a:latin typeface="Calibri"/>
              </a:rPr>
              <a:t>75</a:t>
            </a:r>
          </a:p>
        </p:txBody>
      </p:sp>
      <p:sp>
        <p:nvSpPr>
          <p:cNvPr id="14" name="TextBox 10">
            <a:extLst>
              <a:ext uri="{FF2B5EF4-FFF2-40B4-BE49-F238E27FC236}">
                <a16:creationId xmlns:a16="http://schemas.microsoft.com/office/drawing/2014/main" id="{4BAB4808-A8C9-79CC-0A94-2F6C26079306}"/>
              </a:ext>
            </a:extLst>
          </p:cNvPr>
          <p:cNvSpPr txBox="1"/>
          <p:nvPr/>
        </p:nvSpPr>
        <p:spPr>
          <a:xfrm>
            <a:off x="6346896" y="153347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>
                <a:solidFill>
                  <a:srgbClr val="5C5C66"/>
                </a:solidFill>
                <a:latin typeface="Calibri"/>
              </a:rPr>
              <a:t>imagens </a:t>
            </a:r>
            <a:r>
              <a:rPr sz="1100" b="0" dirty="0" err="1">
                <a:solidFill>
                  <a:srgbClr val="5C5C66"/>
                </a:solidFill>
                <a:latin typeface="Calibri"/>
              </a:rPr>
              <a:t>removidas</a:t>
            </a:r>
            <a:r>
              <a:rPr sz="1100" b="0" dirty="0">
                <a:solidFill>
                  <a:srgbClr val="5C5C66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5C5C66"/>
                </a:solidFill>
                <a:latin typeface="Calibri"/>
              </a:rPr>
              <a:t>por</a:t>
            </a:r>
            <a:r>
              <a:rPr sz="1100" b="0" dirty="0">
                <a:solidFill>
                  <a:srgbClr val="5C5C66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5C5C66"/>
                </a:solidFill>
                <a:latin typeface="Calibri"/>
              </a:rPr>
              <a:t>falta</a:t>
            </a:r>
            <a:r>
              <a:rPr sz="1100" b="0" dirty="0">
                <a:solidFill>
                  <a:srgbClr val="5C5C66"/>
                </a:solidFill>
                <a:latin typeface="Calibri"/>
              </a:rPr>
              <a:t> de </a:t>
            </a:r>
            <a:r>
              <a:rPr sz="1100" b="0" dirty="0" err="1">
                <a:solidFill>
                  <a:srgbClr val="5C5C66"/>
                </a:solidFill>
                <a:latin typeface="Calibri"/>
              </a:rPr>
              <a:t>ficheiro</a:t>
            </a:r>
            <a:endParaRPr sz="1100" b="0" dirty="0">
              <a:solidFill>
                <a:srgbClr val="5C5C66"/>
              </a:solidFill>
              <a:latin typeface="Calibri"/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C1701D24-E4B6-6201-6ACD-A46D772CF0F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880" y="3529794"/>
            <a:ext cx="4644662" cy="2733192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2368908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BBD3D-3C32-6210-BD41-7C9B292B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3698EBB2-BC88-59E1-9D1C-091102744C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Arquitetura do sistema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3CCDC46D-AC02-0EF0-E35D-DE17E203E03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5EC66982-8557-D5E8-2877-6580F1447C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315AF01-4AF4-3E1D-E397-B7B362892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E133CB33-45E7-A6AF-4824-23E8324E805E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1371FC0C-64C7-9370-FC67-BC9ED02A07C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8E09676D-18CD-5E3B-506F-2977205349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B7D9CDB3-BCF2-BE14-9D6E-6CFF00D309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6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EF70E582-60B8-C39B-A096-A8829CD82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F2ED9476-9ED6-A0F4-E137-214C8E3B9C2D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B3DB024E-8BCB-2974-B490-3C13C6FDD66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014B5FAD-76AD-E37D-C5B0-0380215DDD56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69A5C32-8F56-4CF4-64A8-716D76A10E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11" y="2054395"/>
            <a:ext cx="8865515" cy="1135848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5" name="TextBox 19">
            <a:extLst>
              <a:ext uri="{FF2B5EF4-FFF2-40B4-BE49-F238E27FC236}">
                <a16:creationId xmlns:a16="http://schemas.microsoft.com/office/drawing/2014/main" id="{D8D81C7D-59AB-600D-71B4-6DF999BE9838}"/>
              </a:ext>
            </a:extLst>
          </p:cNvPr>
          <p:cNvSpPr txBox="1"/>
          <p:nvPr/>
        </p:nvSpPr>
        <p:spPr>
          <a:xfrm>
            <a:off x="331158" y="4240062"/>
            <a:ext cx="8347532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aplicação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carrega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checkpoint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treinado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aplica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mesmo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pré-processamento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às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imagens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submetidas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pelo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900" b="0" dirty="0" err="1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utilizador</a:t>
            </a:r>
            <a:r>
              <a:rPr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7676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C8470-D553-A55B-6627-7B709C819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3B33192A-E738-FD2E-0E25-2E93AB5748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Modelo e treino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559BEE5D-4707-0A62-8E22-BBC9908BF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0FE407A6-F6C2-6583-E88C-976DCF8F88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9CA01BD-A39B-6385-03FE-0D459F41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EB3D7B7F-5162-DB83-F773-DA9E7254724E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28BF3082-B6EC-0B42-9514-AFD3ECF0C3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3A0196DF-942A-EB5B-9FA2-D943249001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107373C3-24B0-9762-A828-024B4483BA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7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871490DF-A5D6-78C9-3FAD-C5BEDD91D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6C154EF3-5334-634E-EFC3-B1001D885D83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2D353D5B-E1F7-126E-B544-3B3F056D36E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77BC75A2-3EB1-5DB3-EA53-CB19A9B94021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81C1EACC-3206-2508-2DB0-7FE7D124B24E}"/>
              </a:ext>
            </a:extLst>
          </p:cNvPr>
          <p:cNvSpPr txBox="1"/>
          <p:nvPr/>
        </p:nvSpPr>
        <p:spPr>
          <a:xfrm>
            <a:off x="474661" y="1389142"/>
            <a:ext cx="8000999" cy="1964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Modelo: ResNet-50 pré-treinada.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A camada final foi substituída por uma saída por atributo.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Função de perda: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BCEWithLogitsLoss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Otimizador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AdamW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Treino no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com GPU Tesla T4.</a:t>
            </a:r>
          </a:p>
        </p:txBody>
      </p:sp>
      <p:pic>
        <p:nvPicPr>
          <p:cNvPr id="4" name="Picture 7" descr="Captura de ecrã 2026-06-09 235103.png">
            <a:extLst>
              <a:ext uri="{FF2B5EF4-FFF2-40B4-BE49-F238E27FC236}">
                <a16:creationId xmlns:a16="http://schemas.microsoft.com/office/drawing/2014/main" id="{1D8E4C86-94EA-8347-CF7D-A917CDC248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2553127"/>
            <a:ext cx="3766683" cy="3566496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325507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1EC6-46C9-365C-ABD3-F164C59AF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8565C96F-5DA2-E9C6-92E9-485D9539D2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Resultados do treino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5A978E08-4AC8-8B37-86DF-277D82EA4BC0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D44EF443-F831-5CFE-CBA3-FF8215F450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5156817-65B7-171D-90F3-8EB473BCB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8388AD25-CEE4-07EE-DF95-41F406471B7F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16F149AB-7B60-F2FC-63FC-60CCCA76952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70291E34-DCA0-F287-DF58-0418A1334A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8F549A5B-4C79-AD4D-2C8B-9E10E69301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8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2654475C-9E63-EDB7-9E05-647830BA35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6E7A398A-91FC-587E-710E-E233673C544E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B6F9A0E6-74D5-FCE1-A38B-D41F8FB6B89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97C867F2-24C9-6389-EFD8-F1B288A85CD4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A92FEF2-D1F5-803E-5B0E-093F57A8FF03}"/>
              </a:ext>
            </a:extLst>
          </p:cNvPr>
          <p:cNvSpPr txBox="1"/>
          <p:nvPr/>
        </p:nvSpPr>
        <p:spPr>
          <a:xfrm>
            <a:off x="504478" y="5001189"/>
            <a:ext cx="8182322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sz="1900" b="0" dirty="0">
                <a:solidFill>
                  <a:srgbClr val="1E1E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F1 macro melhora até à época 10, mas o valor ainda mostra que há margem para melhorar o modelo.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99E12C0-B6F6-CAE3-E71D-802B4DF33E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3616" y="1652062"/>
            <a:ext cx="6456767" cy="2930379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272505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D5ED9-FE75-A5D8-F7B5-B04E9E67A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F8305A31-77C8-41D7-8D3A-335BF37203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Exemplo de inferência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A4388FF8-6854-3006-4097-A4A145A7D186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62069DD3-D595-40B6-E276-4A334119E0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D550FB2-FA05-E498-9F7C-0A6BC321E2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DB38BEEE-A10E-8E67-2C34-2CE70D0AE9CE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A6FBFE0E-59AD-7A3A-D2C3-3552D19E117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176DC266-DCDA-6346-18C8-FD8FCFFBD5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D4D6B0B5-DBFD-CBF5-6BB2-57CDCBA30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9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92A5D1C5-2665-6679-AF36-E4E7D979E9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A85B0618-0713-D1D0-E1FB-05BF3F58CB20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84540715-91B5-7E8D-79CE-F0649279300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B7218211-3229-5167-49FE-8A86B0DA38A6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pic>
        <p:nvPicPr>
          <p:cNvPr id="2" name="Picture 6" descr="Captura de ecrã 2026-06-09 213001.png">
            <a:extLst>
              <a:ext uri="{FF2B5EF4-FFF2-40B4-BE49-F238E27FC236}">
                <a16:creationId xmlns:a16="http://schemas.microsoft.com/office/drawing/2014/main" id="{B378852C-9321-3531-970B-18B97CA1E7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704" y="1475972"/>
            <a:ext cx="4023360" cy="4168433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B488345D-B588-AF9D-D988-E542D42C03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255278"/>
              </p:ext>
            </p:extLst>
          </p:nvPr>
        </p:nvGraphicFramePr>
        <p:xfrm>
          <a:off x="4719441" y="1475972"/>
          <a:ext cx="4023360" cy="41684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341655374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3864848990"/>
                    </a:ext>
                  </a:extLst>
                </a:gridCol>
              </a:tblGrid>
              <a:tr h="5954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800" b="1" dirty="0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 previsões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498183"/>
                  </a:ext>
                </a:extLst>
              </a:tr>
              <a:tr h="5954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800" b="1" dirty="0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 </a:t>
                      </a:r>
                      <a:r>
                        <a:rPr lang="pt-PT" sz="1800" b="1" dirty="0" err="1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neck</a:t>
                      </a:r>
                      <a:endParaRPr lang="pt-PT" sz="1800" b="1" dirty="0">
                        <a:solidFill>
                          <a:srgbClr val="1E1E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PT" sz="1800" b="1" dirty="0">
                          <a:solidFill>
                            <a:srgbClr val="008278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0,9872</a:t>
                      </a:r>
                      <a:endParaRPr lang="pt-PT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614841"/>
                  </a:ext>
                </a:extLst>
              </a:tr>
              <a:tr h="5954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b="1" dirty="0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pt-PT" b="1" dirty="0" err="1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</a:t>
                      </a:r>
                      <a:endParaRPr lang="pt-PT" sz="1800" b="1" dirty="0">
                        <a:solidFill>
                          <a:srgbClr val="1E1E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PT" sz="1800" b="1" dirty="0">
                          <a:solidFill>
                            <a:srgbClr val="008278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0,9769</a:t>
                      </a:r>
                      <a:endParaRPr lang="pt-PT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512390"/>
                  </a:ext>
                </a:extLst>
              </a:tr>
              <a:tr h="5954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b="1" dirty="0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Renda</a:t>
                      </a:r>
                      <a:endParaRPr lang="pt-PT" sz="1800" b="1" dirty="0">
                        <a:solidFill>
                          <a:srgbClr val="1E1E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800" b="1" dirty="0">
                          <a:solidFill>
                            <a:srgbClr val="008278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0,9687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039528"/>
                  </a:ext>
                </a:extLst>
              </a:tr>
              <a:tr h="5954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b="1" dirty="0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Chiffon</a:t>
                      </a:r>
                      <a:endParaRPr lang="pt-PT" sz="1800" b="1" dirty="0">
                        <a:solidFill>
                          <a:srgbClr val="1E1E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800" b="1" dirty="0">
                          <a:solidFill>
                            <a:srgbClr val="008278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0,9403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7152975"/>
                  </a:ext>
                </a:extLst>
              </a:tr>
              <a:tr h="5954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b="1" dirty="0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Transparente</a:t>
                      </a:r>
                      <a:endParaRPr lang="pt-PT" sz="1800" b="1" dirty="0">
                        <a:solidFill>
                          <a:srgbClr val="1E1E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PT" sz="1800" b="1" dirty="0">
                          <a:solidFill>
                            <a:srgbClr val="008278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0,8250</a:t>
                      </a:r>
                      <a:endParaRPr lang="pt-PT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501293"/>
                  </a:ext>
                </a:extLst>
              </a:tr>
              <a:tr h="5954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b="1" dirty="0">
                          <a:solidFill>
                            <a:srgbClr val="1E1E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Bordado</a:t>
                      </a:r>
                      <a:endParaRPr lang="pt-PT" sz="1800" b="1" dirty="0">
                        <a:solidFill>
                          <a:srgbClr val="1E1E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800" b="1" dirty="0">
                          <a:solidFill>
                            <a:srgbClr val="008278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0,7004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079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3449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8BF05-C844-D81B-B62C-D6748B6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50EEC053-B3E8-44F0-4FF5-F8F8F091E6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Aplicação web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5CAB6B56-CF97-6481-A12C-1C2FD3599F81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2807351F-3693-E8B0-7FC8-4F78726B45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5045858-EEEE-3814-0A2F-222D4E5F8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E567C3CB-5146-CAA1-1AB0-DA038BF73F7D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2182909E-7B26-2A71-F445-C5F0DEF04F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E4B6CF1F-6FE0-7C89-CF4F-8C9CB5E474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9678899A-AEC0-9455-5CD4-9F2BC4CD0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10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A00AB630-5252-16E7-C45B-9EA81ADA2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122CA52C-59E8-409A-3B8E-0175A6A8D370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1DE6D43A-9A38-FA7B-EFAD-10AE6D6B441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7AF1FCC2-B607-65B1-0BD9-F1050577320C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pic>
        <p:nvPicPr>
          <p:cNvPr id="2" name="Picture 6" descr="Captura de ecrã 2026-06-09 213128.png">
            <a:extLst>
              <a:ext uri="{FF2B5EF4-FFF2-40B4-BE49-F238E27FC236}">
                <a16:creationId xmlns:a16="http://schemas.microsoft.com/office/drawing/2014/main" id="{F69AD279-BC23-BF57-CBE5-12EC97B61A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225" y="1506451"/>
            <a:ext cx="2889719" cy="2140027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4" name="Picture 8" descr="Captura de ecrã 2026-06-09 212121.png">
            <a:extLst>
              <a:ext uri="{FF2B5EF4-FFF2-40B4-BE49-F238E27FC236}">
                <a16:creationId xmlns:a16="http://schemas.microsoft.com/office/drawing/2014/main" id="{BAA8DE64-C205-4469-7E61-4AFE3F16A9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27140" y="1293198"/>
            <a:ext cx="2889719" cy="2872780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5" name="Picture 10" descr="Captura de ecrã 2026-06-09 212428.png">
            <a:extLst>
              <a:ext uri="{FF2B5EF4-FFF2-40B4-BE49-F238E27FC236}">
                <a16:creationId xmlns:a16="http://schemas.microsoft.com/office/drawing/2014/main" id="{513A3B91-E601-0C0E-5D1C-26C9F37265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7391" y="1339506"/>
            <a:ext cx="2630762" cy="2665212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F473F344-FF88-C30B-B667-9C8A05CA5A01}"/>
              </a:ext>
            </a:extLst>
          </p:cNvPr>
          <p:cNvSpPr txBox="1"/>
          <p:nvPr/>
        </p:nvSpPr>
        <p:spPr>
          <a:xfrm>
            <a:off x="1263468" y="4471850"/>
            <a:ext cx="68434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dirty="0">
                <a:solidFill>
                  <a:srgbClr val="0082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Fluxo testado: abrir app -&gt; escolher imagem -&gt; ajustar confiança -&gt; analisar -&gt; ver atributos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52D9A592-58C3-B525-9482-41AAF8A555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807" y="5236672"/>
            <a:ext cx="7376799" cy="845893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4925882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3ED74-A569-CEF8-FA36-6E8E2B814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7ECB070E-ECD4-B6A4-284F-A88FC233F9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Vídeo da aplicação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50CC6CEA-1ABD-076D-C935-8FD600A43B3B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A65A8E7D-2866-659F-E18E-37FB005D10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01FE915-81C4-3DDE-3B97-3764B844F5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57883DF6-CFFE-460F-B425-46041A9C1EAC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279729D2-21CD-6764-D78F-750630605BE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FFB408E8-1D1D-D86F-D6F3-3245D482B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DBCB0CB2-2D67-DA65-E058-DD6EF31A29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11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CA073E4F-385D-5280-D738-2E5733DE68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F02655A5-52D7-6D54-76A9-ECD8E2624203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BCC8F567-C40E-ACF9-3793-E481249244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8726F1EB-CC26-B58C-159F-4C75F7762424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pic>
        <p:nvPicPr>
          <p:cNvPr id="2" name="video_fluxo_aplicacao.mp4">
            <a:hlinkClick r:id="" action="ppaction://media"/>
            <a:extLst>
              <a:ext uri="{FF2B5EF4-FFF2-40B4-BE49-F238E27FC236}">
                <a16:creationId xmlns:a16="http://schemas.microsoft.com/office/drawing/2014/main" id="{FC161725-0FBE-C363-1212-050380FB881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940117" y="1365246"/>
            <a:ext cx="7263765" cy="471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94093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6CF2-5A3B-BAAE-F52C-48E5B475E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BED16DA6-0EBB-3E25-840D-213048ACD0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Limitações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4EFF8913-FF9F-AD26-6D81-51917C59AB1B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01BB162E-2016-B5D6-84D9-21CAC46C32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D6D6838-AAC5-CDAD-965C-8C422CD2D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C1C36D6F-1094-976E-7466-B26088D9BAA8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2C1BEFA1-7B1B-E3DB-B2EF-1B97730676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166F42C7-837D-BC48-26FB-DB9C40B30A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F2B79472-C5D8-6DFD-C2A0-BBAEC964E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12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0C309C1F-6039-CCA5-A17A-7E197B9ED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3E18A49A-A897-F497-C2BB-79C85DE090D2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11EDFBBC-A648-2CBF-A519-69F4317E05E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FD00239-5E8F-F613-06E5-B31CFA3A83A3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3E98A46-76BE-4ADD-EA07-06F31E960D5A}"/>
              </a:ext>
            </a:extLst>
          </p:cNvPr>
          <p:cNvSpPr txBox="1"/>
          <p:nvPr/>
        </p:nvSpPr>
        <p:spPr>
          <a:xfrm>
            <a:off x="511104" y="1477692"/>
            <a:ext cx="6880296" cy="196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O F1 macro ainda é baixo para uso real.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O treino foi limitado a um número máximo de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batches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Foram usados apenas 50 atributos.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Alguns atributos são difíceis de distinguir visualmente.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1900">
                <a:solidFill>
                  <a:srgbClr val="1E1E22"/>
                </a:solidFill>
                <a:latin typeface="Calibri"/>
              </a:defRPr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A qualidade da imagem influencia bastante a previsão.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33FC830-5DAE-BDF1-085A-6FC4EF485770}"/>
              </a:ext>
            </a:extLst>
          </p:cNvPr>
          <p:cNvSpPr txBox="1"/>
          <p:nvPr/>
        </p:nvSpPr>
        <p:spPr>
          <a:xfrm>
            <a:off x="1562100" y="4407522"/>
            <a:ext cx="6019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dirty="0">
                <a:solidFill>
                  <a:srgbClr val="0082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sistema funciona como protótipo, mas ainda precisa de mais treino e avaliação</a:t>
            </a:r>
          </a:p>
        </p:txBody>
      </p:sp>
    </p:spTree>
    <p:extLst>
      <p:ext uri="{BB962C8B-B14F-4D97-AF65-F5344CB8AC3E}">
        <p14:creationId xmlns:p14="http://schemas.microsoft.com/office/powerpoint/2010/main" val="3997760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83F97-47A5-BCD5-4F0B-05737CAE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9" name="Text Box 13">
            <a:extLst>
              <a:ext uri="{FF2B5EF4-FFF2-40B4-BE49-F238E27FC236}">
                <a16:creationId xmlns:a16="http://schemas.microsoft.com/office/drawing/2014/main" id="{34B3886D-9E40-80E8-CD17-88FC1DA2AB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388" y="557213"/>
            <a:ext cx="698182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pt-PT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■</a:t>
            </a:r>
            <a:r>
              <a:rPr lang="pt-PT" sz="20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/>
              </a:rPr>
              <a:t> Conclusão</a:t>
            </a:r>
            <a:endParaRPr lang="pt-PT" sz="2000" b="1" dirty="0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sp>
        <p:nvSpPr>
          <p:cNvPr id="10247" name="Line 15">
            <a:extLst>
              <a:ext uri="{FF2B5EF4-FFF2-40B4-BE49-F238E27FC236}">
                <a16:creationId xmlns:a16="http://schemas.microsoft.com/office/drawing/2014/main" id="{5CE693BA-6C63-8866-AA33-F3692BB56636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" y="0"/>
            <a:ext cx="0" cy="7651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237" name="Text Box 21">
            <a:extLst>
              <a:ext uri="{FF2B5EF4-FFF2-40B4-BE49-F238E27FC236}">
                <a16:creationId xmlns:a16="http://schemas.microsoft.com/office/drawing/2014/main" id="{0F8FB2C4-6122-44ED-6FFB-52911905C0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" y="44450"/>
            <a:ext cx="69818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pt-PT" sz="1400" b="1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5AC377F-140D-E966-5F18-2161E98D9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" y="904241"/>
            <a:ext cx="9014192" cy="266482"/>
          </a:xfrm>
          <a:prstGeom prst="rect">
            <a:avLst/>
          </a:prstGeom>
        </p:spPr>
      </p:pic>
      <p:sp>
        <p:nvSpPr>
          <p:cNvPr id="18" name="Rectângulo 19">
            <a:extLst>
              <a:ext uri="{FF2B5EF4-FFF2-40B4-BE49-F238E27FC236}">
                <a16:creationId xmlns:a16="http://schemas.microsoft.com/office/drawing/2014/main" id="{B166EE31-4184-01DC-C7DE-4F0649F1C2EC}"/>
              </a:ext>
            </a:extLst>
          </p:cNvPr>
          <p:cNvSpPr/>
          <p:nvPr/>
        </p:nvSpPr>
        <p:spPr>
          <a:xfrm>
            <a:off x="5535613" y="510545"/>
            <a:ext cx="3505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PT" sz="1100" b="1" cap="all" dirty="0">
                <a:highlight>
                  <a:srgbClr val="FFFF00"/>
                </a:highlight>
              </a:rPr>
              <a:t>ENGENHARIA INFORMÁTICA</a:t>
            </a:r>
            <a:endParaRPr lang="pt-PT" sz="1100" dirty="0">
              <a:highlight>
                <a:srgbClr val="FFFF00"/>
              </a:highlight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C4FDD690-BB95-9710-D16E-FEF11F278E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6666" y="-10498"/>
            <a:ext cx="2689589" cy="668346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76C9C14E-4C6E-F311-B3EF-09C70480EA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8338" y="6296025"/>
            <a:ext cx="8270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pt-PT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A6A4E200-BB55-41B5-2650-F9603D1E95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7571" y="6496091"/>
            <a:ext cx="9366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pt-PT" sz="1000" dirty="0"/>
              <a:t>- </a:t>
            </a:r>
            <a:fld id="{1234D2FF-8FB9-47A1-B8C9-42A5F500BA2F}" type="slidenum">
              <a:rPr lang="pt-PT" sz="1000"/>
              <a:pPr algn="ctr"/>
              <a:t>13</a:t>
            </a:fld>
            <a:r>
              <a:rPr lang="pt-PT" sz="1000" dirty="0"/>
              <a:t> -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EB30B4C5-45E8-779C-5447-19DA866D9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20212"/>
            <a:ext cx="9144000" cy="253252"/>
          </a:xfrm>
          <a:prstGeom prst="rect">
            <a:avLst/>
          </a:prstGeom>
        </p:spPr>
      </p:pic>
      <p:sp>
        <p:nvSpPr>
          <p:cNvPr id="19" name="Subtítulo 2">
            <a:extLst>
              <a:ext uri="{FF2B5EF4-FFF2-40B4-BE49-F238E27FC236}">
                <a16:creationId xmlns:a16="http://schemas.microsoft.com/office/drawing/2014/main" id="{E658720D-110E-7340-CAB1-3B73EEECD82B}"/>
              </a:ext>
            </a:extLst>
          </p:cNvPr>
          <p:cNvSpPr txBox="1">
            <a:spLocks/>
          </p:cNvSpPr>
          <p:nvPr/>
        </p:nvSpPr>
        <p:spPr>
          <a:xfrm>
            <a:off x="836017" y="6524516"/>
            <a:ext cx="7698382" cy="16240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PT" sz="900" dirty="0">
                <a:latin typeface="Arial" charset="0"/>
                <a:ea typeface="Arial" charset="0"/>
                <a:cs typeface="Arial" charset="0"/>
              </a:rPr>
              <a:t>@2026, 31414 - Inês Delgado, 31427 - Filipa Calheiros  | </a:t>
            </a:r>
            <a:r>
              <a:rPr lang="pt-PT" sz="900" b="1" dirty="0">
                <a:solidFill>
                  <a:srgbClr val="C00000"/>
                </a:solidFill>
                <a:latin typeface="Arial" charset="0"/>
                <a:ea typeface="Arial" charset="0"/>
                <a:cs typeface="Arial" charset="0"/>
              </a:rPr>
              <a:t>Unidade Curricular: IOp2-AO / SSD</a:t>
            </a:r>
            <a:r>
              <a:rPr lang="pt-PT" sz="900" dirty="0">
                <a:latin typeface="Arial" charset="0"/>
                <a:ea typeface="Arial" charset="0"/>
                <a:cs typeface="Arial" charset="0"/>
              </a:rPr>
              <a:t>– Ano Letivo 2025/2026 </a:t>
            </a:r>
            <a:endParaRPr lang="pt-PT" sz="900" b="1" dirty="0"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26630D46-F245-6A98-435F-D7F99BFD871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6488336"/>
            <a:ext cx="545959" cy="199802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F28C188D-CAB0-C8BF-75B9-C46333E9F716}"/>
              </a:ext>
            </a:extLst>
          </p:cNvPr>
          <p:cNvSpPr txBox="1"/>
          <p:nvPr/>
        </p:nvSpPr>
        <p:spPr>
          <a:xfrm>
            <a:off x="3253966" y="711134"/>
            <a:ext cx="586145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sz="1100" b="1" dirty="0">
                <a:latin typeface="Arial" charset="0"/>
                <a:cs typeface="Arial" charset="0"/>
              </a:rPr>
              <a:t>Classificação de Atributos de Vestuário</a:t>
            </a:r>
            <a:endParaRPr lang="pt-PT" sz="1100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9121B75-C3DE-185C-94CB-018D92ACC84C}"/>
              </a:ext>
            </a:extLst>
          </p:cNvPr>
          <p:cNvSpPr txBox="1"/>
          <p:nvPr/>
        </p:nvSpPr>
        <p:spPr>
          <a:xfrm>
            <a:off x="511104" y="1527735"/>
            <a:ext cx="7777234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1E1E22"/>
                </a:solidFill>
                <a:latin typeface="Calibri"/>
              </a:defRPr>
            </a:pPr>
            <a:r>
              <a:rPr lang="pt-PT" sz="1900" dirty="0">
                <a:latin typeface="Arial" panose="020B0604020202020204" pitchFamily="34" charset="0"/>
                <a:cs typeface="Arial" panose="020B0604020202020204" pitchFamily="34" charset="0"/>
              </a:rPr>
              <a:t>Foi criada uma pipeline completa: dados, treino, inferência e interface.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1E1E22"/>
                </a:solidFill>
                <a:latin typeface="Calibri"/>
              </a:defRPr>
            </a:pPr>
            <a:r>
              <a:rPr lang="pt-PT" sz="1900" dirty="0">
                <a:latin typeface="Arial" panose="020B0604020202020204" pitchFamily="34" charset="0"/>
                <a:cs typeface="Arial" panose="020B0604020202020204" pitchFamily="34" charset="0"/>
              </a:rPr>
              <a:t>A abordagem </a:t>
            </a:r>
            <a:r>
              <a:rPr lang="pt-PT" sz="1900" dirty="0" err="1">
                <a:latin typeface="Arial" panose="020B0604020202020204" pitchFamily="34" charset="0"/>
                <a:cs typeface="Arial" panose="020B0604020202020204" pitchFamily="34" charset="0"/>
              </a:rPr>
              <a:t>multi-label</a:t>
            </a:r>
            <a:r>
              <a:rPr lang="pt-PT" sz="1900" dirty="0">
                <a:latin typeface="Arial" panose="020B0604020202020204" pitchFamily="34" charset="0"/>
                <a:cs typeface="Arial" panose="020B0604020202020204" pitchFamily="34" charset="0"/>
              </a:rPr>
              <a:t> é adequada ao problema.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1E1E22"/>
                </a:solidFill>
                <a:latin typeface="Calibri"/>
              </a:defRPr>
            </a:pPr>
            <a:r>
              <a:rPr lang="pt-PT" sz="1900" dirty="0">
                <a:latin typeface="Arial" panose="020B0604020202020204" pitchFamily="34" charset="0"/>
                <a:cs typeface="Arial" panose="020B0604020202020204" pitchFamily="34" charset="0"/>
              </a:rPr>
              <a:t>O modelo treinado foi integrado numa aplicação funcional.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>
                <a:solidFill>
                  <a:srgbClr val="1E1E22"/>
                </a:solidFill>
                <a:latin typeface="Calibri"/>
              </a:defRPr>
            </a:pPr>
            <a:r>
              <a:rPr lang="pt-PT" sz="1900" dirty="0">
                <a:latin typeface="Arial" panose="020B0604020202020204" pitchFamily="34" charset="0"/>
                <a:cs typeface="Arial" panose="020B0604020202020204" pitchFamily="34" charset="0"/>
              </a:rPr>
              <a:t>Os resultados mostram potencial, mas também limitações claras.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50E0A2A-5BCC-2583-AB1E-57DCAE12A79B}"/>
              </a:ext>
            </a:extLst>
          </p:cNvPr>
          <p:cNvSpPr txBox="1"/>
          <p:nvPr/>
        </p:nvSpPr>
        <p:spPr>
          <a:xfrm>
            <a:off x="1485900" y="4572000"/>
            <a:ext cx="6172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b="1" dirty="0">
                <a:solidFill>
                  <a:srgbClr val="0082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Uma imagem de roupa pode ser transformada numa lista estruturada de atributo</a:t>
            </a:r>
          </a:p>
        </p:txBody>
      </p:sp>
    </p:spTree>
    <p:extLst>
      <p:ext uri="{BB962C8B-B14F-4D97-AF65-F5344CB8AC3E}">
        <p14:creationId xmlns:p14="http://schemas.microsoft.com/office/powerpoint/2010/main" val="16763543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000250" y="5867400"/>
            <a:ext cx="5143500" cy="489738"/>
          </a:xfrm>
        </p:spPr>
        <p:txBody>
          <a:bodyPr>
            <a:normAutofit/>
          </a:bodyPr>
          <a:lstStyle/>
          <a:p>
            <a:r>
              <a:rPr lang="pt-PT" sz="1500" dirty="0" err="1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www.ipvc.pt</a:t>
            </a:r>
            <a:endParaRPr lang="pt-PT" sz="150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606" y="3409950"/>
            <a:ext cx="4048787" cy="100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25997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5891</TotalTime>
  <Words>919</Words>
  <Application>Microsoft Office PowerPoint</Application>
  <PresentationFormat>Apresentação no Ecrã (4:3)</PresentationFormat>
  <Paragraphs>145</Paragraphs>
  <Slides>14</Slides>
  <Notes>13</Notes>
  <HiddenSlides>0</HiddenSlides>
  <MMClips>1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14</vt:i4>
      </vt:variant>
    </vt:vector>
  </HeadingPairs>
  <TitlesOfParts>
    <vt:vector size="17" baseType="lpstr">
      <vt:lpstr>Arial</vt:lpstr>
      <vt:lpstr>Calibri</vt:lpstr>
      <vt:lpstr>Tema do Office</vt:lpstr>
      <vt:lpstr>LICENCIATURA EM ENGENHARIA INFORMÁTICA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Diapositivo 1</dc:title>
  <dc:creator>Jorge Ribeiro</dc:creator>
  <cp:lastModifiedBy>Filipa Calheiros</cp:lastModifiedBy>
  <cp:revision>306</cp:revision>
  <cp:lastPrinted>2021-02-22T18:49:33Z</cp:lastPrinted>
  <dcterms:created xsi:type="dcterms:W3CDTF">2011-05-31T09:21:51Z</dcterms:created>
  <dcterms:modified xsi:type="dcterms:W3CDTF">2026-06-14T22:13:38Z</dcterms:modified>
</cp:coreProperties>
</file>
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9" r:id="rId2"/>
    <p:sldId id="324" r:id="rId3"/>
    <p:sldId id="325" r:id="rId4"/>
    <p:sldId id="330" r:id="rId5"/>
    <p:sldId id="331" r:id="rId6"/>
    <p:sldId id="326" r:id="rId7"/>
    <p:sldId id="327" r:id="rId8"/>
    <p:sldId id="328" r:id="rId9"/>
    <p:sldId id="329" r:id="rId10"/>
    <p:sldId id="332" r:id="rId11"/>
    <p:sldId id="333" r:id="rId12"/>
    <p:sldId id="334" r:id="rId13"/>
    <p:sldId id="335" r:id="rId14"/>
    <p:sldId id="260" r:id="rId1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/>
    <p:restoredTop sz="94655"/>
  </p:normalViewPr>
  <p:slideViewPr>
    <p:cSldViewPr>
      <p:cViewPr varScale="1">
        <p:scale>
          <a:sx n="78" d="100"/>
          <a:sy n="78" d="100"/>
        </p:scale>
        <p:origin x="166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11/06/2026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11/06/2026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1007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46F3-8C6E-4392-0016-84348ABE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B035F3D-549E-6299-25F4-ADD4F2FBAF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B496488-88F1-A2BE-27E6-620F9B561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B182635-D6A2-DB76-1269-D4222A4E8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08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4C48-9645-A5E1-C63B-6C04E156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DBE699D-C65C-471E-0BB5-3879A6FB94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F9D0696-59EA-DB86-3BF1-519CA5286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43D798C-1B09-D473-DEC3-D03CD64A1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98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2844-375A-1F93-E008-B502F8F6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69E6528-DAD4-1363-06B8-3C02A36CE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6B1C09F-DA29-0286-6289-451591547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F56E575-1071-0F8B-7764-CD2622FD6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556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33D9B-50E9-B3A3-038F-919CEFDD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D8A576F-524F-0AFC-3AA3-FE26E61F1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E758F7E-DA98-40C1-BE08-874262601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04B7AC8-F79A-359C-560C-B704734F7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445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B109-A794-9B9D-4B77-2214C984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C83FBD8-113E-9A31-1D27-2AA5BF6A6B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4FEFADF-3DC7-2FDB-F5E4-693AA160F6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831B8ED-79AF-152A-06A6-BC90A7DB9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47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AB6A3-FF83-8AFE-14C0-EEB53CDF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F0A0772-2E34-38AC-F429-9D1D0C9E50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B4B185E-5702-1621-25F0-14D199F36B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4162DB0-5FE4-BEF0-EAB8-C8B5AE020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55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424CF-BA2F-53A5-C525-DFC77644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044936D-EE37-0317-CB52-B10F9F224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4B8D779-3DA5-158C-91DA-B80E406645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FF1345A-DE29-B079-BD4B-E1E767A1B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403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DDE7-660A-D6C2-AD15-4FDFF1C6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8AC696E-B8DA-1EE0-ECF5-8356662EB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2281B27-8673-3C16-A994-3C8AD5BD21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0F9BBDF-93E7-29ED-BF08-C56E5978B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652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CA51-4557-2C31-0B18-421CB7E7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EA2C36D-9FF7-FA7F-350F-9914E0341C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2DD3DE9-317B-B37E-90B4-B057ADA6A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DE4BCD5-9753-07A9-BF14-9BA97166F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18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019A-8201-79EF-9A06-05D9F644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1439FD9-5B4A-1C24-125F-C423A9395D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949F741-9A73-1B83-2AB0-8F59E941B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014C0A9-6939-4788-6B12-175135701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1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AF3E-760F-8BF2-81A2-326708C2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CA78A49-8B0C-435A-BE6F-4BBF77190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BC87C76-066D-7788-AC23-AE8233073C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8B07F2F-FD42-DB91-68ED-0F0084D27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520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9222-DB2E-3E60-DCE7-6068D8C6F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90F0B10-EE08-A893-4FA6-2850EDEDE3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0CBD063-850B-BCA6-212A-DD5ABC58D6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DD4BCD8-6052-D7AB-4451-ECAD92F1A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54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filipacalheiros@ipvc.pt" TargetMode="External"/><Relationship Id="rId5" Type="http://schemas.openxmlformats.org/officeDocument/2006/relationships/hyperlink" Target="mailto:inesdelgado@ipvc.pt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72" y="0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5000" y="2793076"/>
            <a:ext cx="5486400" cy="552329"/>
          </a:xfrm>
        </p:spPr>
        <p:txBody>
          <a:bodyPr>
            <a:normAutofit fontScale="90000"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4549" y="3452877"/>
            <a:ext cx="5486400" cy="143531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pt-PT" b="1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OPÇÃO II – APRENDIZAGEM ORGANIZACIONAL/ SISTEMAS DE SUPORTE À DECISÃO</a:t>
            </a:r>
          </a:p>
          <a:p>
            <a:pPr>
              <a:lnSpc>
                <a:spcPct val="170000"/>
              </a:lnSpc>
            </a:pPr>
            <a:r>
              <a:rPr lang="pt-PT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Classificação de atributos de vestuário</a:t>
            </a:r>
          </a:p>
          <a:p>
            <a:endParaRPr lang="pt-PT" sz="43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Op2-AO / SSD 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4" y="5615784"/>
            <a:ext cx="4647705" cy="6326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5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                     Abel Dantas</a:t>
            </a:r>
          </a:p>
          <a:p>
            <a:pPr algn="l"/>
            <a:r>
              <a:rPr lang="pt-PT" sz="15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jribeiro@estg.ipvc.pt          abeldantas@estg.ipvc.pt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91EC4ED-17BC-435A-9221-66A1A252A082}"/>
              </a:ext>
            </a:extLst>
          </p:cNvPr>
          <p:cNvSpPr txBox="1">
            <a:spLocks/>
          </p:cNvSpPr>
          <p:nvPr/>
        </p:nvSpPr>
        <p:spPr>
          <a:xfrm>
            <a:off x="1483178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Nº 31414 – Inês Delgado  Nº </a:t>
            </a:r>
            <a:r>
              <a:rPr lang="pt-P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31427</a:t>
            </a:r>
            <a:r>
              <a:rPr lang="pt-PT" sz="1050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– Filipa Calheiros</a:t>
            </a:r>
          </a:p>
          <a:p>
            <a:pPr algn="l"/>
            <a:r>
              <a:rPr lang="pt-PT" sz="1050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  <a:hlinkClick r:id="rId5"/>
              </a:rPr>
              <a:t>inesdelgado@ipvc.pt</a:t>
            </a:r>
            <a:r>
              <a:rPr lang="pt-PT" sz="1050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        </a:t>
            </a:r>
            <a:r>
              <a:rPr lang="pt-PT" sz="1050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  <a:hlinkClick r:id="rId6"/>
              </a:rPr>
              <a:t>filipacalheiros@ipvc.pt</a:t>
            </a:r>
            <a:endParaRPr lang="pt-PT" sz="1050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E732-E356-5C15-806C-1F5DAF44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9DABAAD2-2263-1875-7812-E36AE3EA4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70A9366-35F6-0769-4019-74D886E5A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16BAC93-8AFA-B196-C7D2-8BCECC2F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0C89B3-FE41-EC35-6372-71D66B4D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1818702D-7D20-1140-AF6C-FA08BB63A147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548BA8E-529E-88D2-349A-0F0D45EDA6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B938DC52-A105-05C0-413A-644778835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EC80C377-2242-D3DD-F633-0FAF7DDFF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2072A8E-7103-6C65-8E53-BDC58CA81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7511EF1D-F65A-46AE-ADF3-FEC34A08A48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BCDAEBD-34DB-BA4B-748D-E1E481375F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33FB35B-08F2-37C3-5C2A-88DD2A43F1E7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3CEDD5-92A5-5062-091C-9CC56BF642F2}"/>
              </a:ext>
            </a:extLst>
          </p:cNvPr>
          <p:cNvSpPr txBox="1"/>
          <p:nvPr/>
        </p:nvSpPr>
        <p:spPr>
          <a:xfrm>
            <a:off x="321136" y="1246261"/>
            <a:ext cx="74676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Objetivos do projeto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e preparação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Arquitetura do Sistema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Modelo e treino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Resultados do treino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Exemplo de inferência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Aplicação web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Vídeo da aplicação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Limitações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93565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7A37-DB2C-74EB-DE97-ECE416CB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DE3E9910-B08B-0D45-113A-57C8C8E07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Problema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7F3CE53-A063-2151-F5D6-57C54F571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7B82DEA-6C7E-72E3-D247-FB2722757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5B0DB2-271F-F743-EBEA-2B612F7B8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BDF6559A-8206-9E57-DBEA-0248DAED8D76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5BB2AD8-8FAC-F3A7-51EF-318FDFDABD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D2F3C443-BE2E-C744-484B-60B6C698F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FAC38E5A-6981-4082-51DF-3CB79184D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E21490D-FAF5-9311-EBAC-C91CC637C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ABE10B96-AAD1-01DE-03A8-D71AA5B90E2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73F59C59-A58E-FA7B-F881-36F30BF36A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E07F293-2C05-B667-4650-9F43884FA44A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E6A2F2D-1E66-4654-B1F8-F2A65819360B}"/>
              </a:ext>
            </a:extLst>
          </p:cNvPr>
          <p:cNvSpPr txBox="1"/>
          <p:nvPr/>
        </p:nvSpPr>
        <p:spPr>
          <a:xfrm>
            <a:off x="450370" y="1425050"/>
            <a:ext cx="778547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Em lojas online, as peças precisam de etiquetas como material, padrão, corte ou estilo.</a:t>
            </a:r>
          </a:p>
          <a:p>
            <a:endParaRPr lang="pt-PT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A etiquetagem manual é lenta e pode ser inconsistente.</a:t>
            </a:r>
          </a:p>
          <a:p>
            <a:endParaRPr lang="pt-PT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Uma única imagem pode ter vários atributos ao mesmo tempo.</a:t>
            </a:r>
          </a:p>
          <a:p>
            <a:endParaRPr lang="pt-PT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A ideia foi automatizar esta tarefa com visão por computador.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1DF225-9F69-B2CA-8F90-977A6DBF5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307" y="3879956"/>
            <a:ext cx="2895600" cy="242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8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68DF7-C25F-ADAB-5DBA-CDA4707E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405D9525-25FE-CF02-2FDC-767348F5F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 do projeto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FEB47C49-A542-7607-87C6-0F651DEB3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72EB773-BC2C-0EED-9BA3-7F1D1D6E2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13AC12-472C-97B6-BBC2-EFBE5B70D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7E61080D-C85A-0884-8CFA-D09F74BF8F03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9AABD60-B387-8F4D-C037-C8096F8F5C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864012A3-F918-7EC9-4E51-964039C7D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E45D02C-A4B4-3D0E-7015-5DCAB6425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A9D1C58-E1F7-6157-0942-C90810264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EDE8D815-E218-6680-96A5-A0A019C1EF0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ACE9367-9F4A-5546-E77B-F0CA867FBF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6C3BDF1-CFB0-A261-75F9-DD0374341CB7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25E7446-7FDB-558C-E421-23DE5A11B30C}"/>
              </a:ext>
            </a:extLst>
          </p:cNvPr>
          <p:cNvSpPr txBox="1"/>
          <p:nvPr/>
        </p:nvSpPr>
        <p:spPr>
          <a:xfrm>
            <a:off x="450370" y="1425050"/>
            <a:ext cx="7785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Preparar os dados do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DeepFashion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Treinar um modelo capaz de prever vários atributos por imagem.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Guardar o melhor checkpoint do treino.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Criar uma aplicação web simples para demonstrar o funcionamento.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F6FBDCA-F72D-C559-6908-E96CB6AD0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218" y="3890980"/>
            <a:ext cx="7028206" cy="160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CED5-817A-6F90-A889-4558BEF8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D3FFF97A-41C2-65BB-1BB7-2F3262771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Dataset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preparação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892970C-990B-7F10-55BA-81BA8A90C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4E9D69E-B1B3-3A0E-1C1C-83E91056A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3FC873-7E46-E3CA-4427-AE254EDC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A349EB63-AAE0-5F7A-A951-52D5DD91AA56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F2E9F45-6110-3081-9A32-2AAAFC44B0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3A3DCB2A-6554-5714-EB95-3F9DA9B25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3C982720-351F-F268-D352-92A09A388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28A1708-5A3F-C7D9-C08C-9266EE7B7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4131C824-D554-E423-1F3B-28E05E30B4D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C59A3DB-CE63-48C7-B482-44EA1733B9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7344BAE-080C-805D-47E8-14B5E3E8CFE5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3687FF-C0EA-318E-9DB6-2A719F091048}"/>
              </a:ext>
            </a:extLst>
          </p:cNvPr>
          <p:cNvSpPr txBox="1"/>
          <p:nvPr/>
        </p:nvSpPr>
        <p:spPr>
          <a:xfrm>
            <a:off x="502863" y="1966377"/>
            <a:ext cx="79553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22"/>
                </a:solidFill>
                <a:latin typeface="Calibri"/>
              </a:defRPr>
            </a:pP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usado: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DeepFashion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Foi criado um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metadata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com os caminhos das imagens,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split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e atributos.</a:t>
            </a:r>
          </a:p>
          <a:p>
            <a:pPr>
              <a:spcAft>
                <a:spcPts val="800"/>
              </a:spcAft>
              <a:defRPr sz="17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 ficheiro usado no treino final foi o metadata_filtered.csv.</a:t>
            </a:r>
          </a:p>
          <a:p>
            <a:pPr>
              <a:spcAft>
                <a:spcPts val="800"/>
              </a:spcAft>
              <a:defRPr sz="17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Divisão: 209169 treino, 39990 validação e 39988 teste.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6BD96A-83C8-69F9-2083-00802E1B3CF1}"/>
              </a:ext>
            </a:extLst>
          </p:cNvPr>
          <p:cNvSpPr txBox="1"/>
          <p:nvPr/>
        </p:nvSpPr>
        <p:spPr>
          <a:xfrm>
            <a:off x="511104" y="1236247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dirty="0">
                <a:solidFill>
                  <a:srgbClr val="008278"/>
                </a:solidFill>
                <a:latin typeface="Calibri"/>
              </a:rPr>
              <a:t>289147</a:t>
            </a:r>
            <a:endParaRPr lang="pt-PT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58F490E-1E31-117E-A3FE-9BB27CACB50D}"/>
              </a:ext>
            </a:extLst>
          </p:cNvPr>
          <p:cNvSpPr txBox="1"/>
          <p:nvPr/>
        </p:nvSpPr>
        <p:spPr>
          <a:xfrm>
            <a:off x="511104" y="152438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C5C66"/>
                </a:solidFill>
                <a:latin typeface="Calibri"/>
              </a:rPr>
              <a:t>imagens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válidas</a:t>
            </a:r>
            <a:r>
              <a:rPr sz="1100" b="0" dirty="0">
                <a:solidFill>
                  <a:srgbClr val="5C5C66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depois</a:t>
            </a:r>
            <a:r>
              <a:rPr sz="1100" b="0" dirty="0">
                <a:solidFill>
                  <a:srgbClr val="5C5C66"/>
                </a:solidFill>
                <a:latin typeface="Calibri"/>
              </a:rPr>
              <a:t> da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filtragem</a:t>
            </a:r>
            <a:endParaRPr sz="1100" b="0" dirty="0">
              <a:solidFill>
                <a:srgbClr val="5C5C66"/>
              </a:solidFill>
              <a:latin typeface="Calibri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F2068EB-A0F4-CB97-D34E-5D0303B779C0}"/>
              </a:ext>
            </a:extLst>
          </p:cNvPr>
          <p:cNvSpPr txBox="1"/>
          <p:nvPr/>
        </p:nvSpPr>
        <p:spPr>
          <a:xfrm>
            <a:off x="3577081" y="122197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3034AE"/>
                </a:solidFill>
                <a:latin typeface="Calibri"/>
              </a:rPr>
              <a:t>50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BA909D5-62B2-0D39-2C15-72DF81FE99F6}"/>
              </a:ext>
            </a:extLst>
          </p:cNvPr>
          <p:cNvSpPr txBox="1"/>
          <p:nvPr/>
        </p:nvSpPr>
        <p:spPr>
          <a:xfrm>
            <a:off x="3577081" y="154258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 err="1">
                <a:solidFill>
                  <a:srgbClr val="5C5C66"/>
                </a:solidFill>
                <a:latin typeface="Calibri"/>
              </a:rPr>
              <a:t>atributos</a:t>
            </a:r>
            <a:r>
              <a:rPr sz="1100" b="0" dirty="0">
                <a:solidFill>
                  <a:srgbClr val="5C5C66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selecionados</a:t>
            </a:r>
            <a:endParaRPr sz="1100" b="0" dirty="0">
              <a:solidFill>
                <a:srgbClr val="5C5C66"/>
              </a:solidFill>
              <a:latin typeface="Calibri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0A77649F-F928-A0D5-5FBD-530BF641F3A2}"/>
              </a:ext>
            </a:extLst>
          </p:cNvPr>
          <p:cNvSpPr txBox="1"/>
          <p:nvPr/>
        </p:nvSpPr>
        <p:spPr>
          <a:xfrm>
            <a:off x="6338566" y="123177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AF4646"/>
                </a:solidFill>
                <a:latin typeface="Calibri"/>
              </a:rPr>
              <a:t>75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4BAB4808-A8C9-79CC-0A94-2F6C26079306}"/>
              </a:ext>
            </a:extLst>
          </p:cNvPr>
          <p:cNvSpPr txBox="1"/>
          <p:nvPr/>
        </p:nvSpPr>
        <p:spPr>
          <a:xfrm>
            <a:off x="6346896" y="153347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C5C66"/>
                </a:solidFill>
                <a:latin typeface="Calibri"/>
              </a:rPr>
              <a:t>imagens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removidas</a:t>
            </a:r>
            <a:r>
              <a:rPr sz="1100" b="0" dirty="0">
                <a:solidFill>
                  <a:srgbClr val="5C5C66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5C5C66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falta</a:t>
            </a:r>
            <a:r>
              <a:rPr sz="1100" b="0" dirty="0">
                <a:solidFill>
                  <a:srgbClr val="5C5C66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5C5C66"/>
                </a:solidFill>
                <a:latin typeface="Calibri"/>
              </a:rPr>
              <a:t>ficheiro</a:t>
            </a:r>
            <a:endParaRPr sz="1100" b="0" dirty="0">
              <a:solidFill>
                <a:srgbClr val="5C5C66"/>
              </a:solidFill>
              <a:latin typeface="Calibri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1701D24-E4B6-6201-6ACD-A46D772CF0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880" y="3529794"/>
            <a:ext cx="4644662" cy="27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0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BBD3D-3C32-6210-BD41-7C9B292B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3698EBB2-BC88-59E1-9D1C-091102744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Arquitetura do sistema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CCDC46D-AC02-0EF0-E35D-DE17E203E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5EC66982-8557-D5E8-2877-6580F1447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315AF01-4AF4-3E1D-E397-B7B362892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E133CB33-45E7-A6AF-4824-23E8324E805E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371FC0C-64C7-9370-FC67-BC9ED02A07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8E09676D-18CD-5E3B-506F-297720534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7D9CDB3-BCF2-BE14-9D6E-6CFF00D30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F70E582-60B8-C39B-A096-A8829CD82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F2ED9476-9ED6-A0F4-E137-214C8E3B9C2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3DB024E-8BCB-2974-B490-3C13C6FDD6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14B5FAD-76AD-E37D-C5B0-0380215DDD56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9A5C32-8F56-4CF4-64A8-716D76A10E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11" y="2054395"/>
            <a:ext cx="8865515" cy="1135848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D8D81C7D-59AB-600D-71B4-6DF999BE9838}"/>
              </a:ext>
            </a:extLst>
          </p:cNvPr>
          <p:cNvSpPr txBox="1"/>
          <p:nvPr/>
        </p:nvSpPr>
        <p:spPr>
          <a:xfrm>
            <a:off x="331158" y="4240062"/>
            <a:ext cx="834753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carrega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checkpoint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treinado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mesmo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pré-processamento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às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imagens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submetidas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00" b="0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utilizador</a:t>
            </a:r>
            <a:r>
              <a:rPr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67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8470-D553-A55B-6627-7B709C81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3B33192A-E738-FD2E-0E25-2E93AB574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Modelo e treino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59BEE5D-4707-0A62-8E22-BBC9908BF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FE407A6-F6C2-6583-E88C-976DCF8F8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9CA01BD-A39B-6385-03FE-0D459F41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EB3D7B7F-5162-DB83-F773-DA9E7254724E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8BF3082-B6EC-0B42-9514-AFD3ECF0C3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3A0196DF-942A-EB5B-9FA2-D94324900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107373C3-24B0-9762-A828-024B4483B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71490DF-A5D6-78C9-3FAD-C5BEDD91D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6C154EF3-5334-634E-EFC3-B1001D885D8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D353D5B-E1F7-126E-B544-3B3F056D36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7BC75A2-3EB1-5DB3-EA53-CB19A9B94021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1C1EACC-3206-2508-2DB0-7FE7D124B24E}"/>
              </a:ext>
            </a:extLst>
          </p:cNvPr>
          <p:cNvSpPr txBox="1"/>
          <p:nvPr/>
        </p:nvSpPr>
        <p:spPr>
          <a:xfrm>
            <a:off x="474661" y="1389142"/>
            <a:ext cx="8000999" cy="234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Modelo: ResNet-50 pré-treinada.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 camada final foi substituída por uma saída por atributo.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Função de perda: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BCEWithLogitsLoss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Otimizador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AdamW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Treino no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com GPU Tesla T4.</a:t>
            </a:r>
          </a:p>
          <a:p>
            <a:endParaRPr lang="pt-PT" dirty="0"/>
          </a:p>
        </p:txBody>
      </p:sp>
      <p:pic>
        <p:nvPicPr>
          <p:cNvPr id="4" name="Picture 7" descr="Captura de ecrã 2026-06-09 235103.png">
            <a:extLst>
              <a:ext uri="{FF2B5EF4-FFF2-40B4-BE49-F238E27FC236}">
                <a16:creationId xmlns:a16="http://schemas.microsoft.com/office/drawing/2014/main" id="{1D8E4C86-94EA-8347-CF7D-A917CDC248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4696" y="2416303"/>
            <a:ext cx="3911187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0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1EC6-46C9-365C-ABD3-F164C59A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8565C96F-5DA2-E9C6-92E9-485D9539D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Resultados do treino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A978E08-4AC8-8B37-86DF-277D82EA4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44EF443-F831-5CFE-CBA3-FF8215F45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156817-65B7-171D-90F3-8EB473BCB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8388AD25-CEE4-07EE-DF95-41F406471B7F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6F149AB-7B60-F2FC-63FC-60CCCA7695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70291E34-DCA0-F287-DF58-0418A1334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49A5B-4C79-AD4D-2C8B-9E10E6930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654475C-9E63-EDB7-9E05-647830BA3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6E7A398A-91FC-587E-710E-E233673C544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6F9A0E6-74D5-FCE1-A38B-D41F8FB6B8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7C867F2-24C9-6389-EFD8-F1B288A85CD4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92FEF2-D1F5-803E-5B0E-093F57A8FF03}"/>
              </a:ext>
            </a:extLst>
          </p:cNvPr>
          <p:cNvSpPr txBox="1"/>
          <p:nvPr/>
        </p:nvSpPr>
        <p:spPr>
          <a:xfrm>
            <a:off x="504478" y="5001189"/>
            <a:ext cx="818232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900" b="0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F1 macro melhora até à época 10, mas o valor ainda mostra que há margem para melhorar o modelo.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9E12C0-B6F6-CAE3-E71D-802B4DF33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3616" y="1652062"/>
            <a:ext cx="6456767" cy="29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05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5ED9-FE75-A5D8-F7B5-B04E9E67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F8305A31-77C8-41D7-8D3A-335BF3720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de inferência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4388FF8-6854-3006-4097-A4A145A7D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62069DD3-D595-40B6-E276-4A334119E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550FB2-FA05-E498-9F7C-0A6BC321E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DB38BEEE-A10E-8E67-2C34-2CE70D0AE9CE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6FBFE0E-59AD-7A3A-D2C3-3552D19E11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176DC266-DCDA-6346-18C8-FD8FCFFBD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D4D6B0B5-DBFD-CBF5-6BB2-57CDCBA30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2A5D1C5-2665-6679-AF36-E4E7D979E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A85B0618-0713-D1D0-E1FB-05BF3F58CB2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4540715-91B5-7E8D-79CE-F064927930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7218211-3229-5167-49FE-8A86B0DA38A6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pic>
        <p:nvPicPr>
          <p:cNvPr id="2" name="Picture 6" descr="Captura de ecrã 2026-06-09 213001.png">
            <a:extLst>
              <a:ext uri="{FF2B5EF4-FFF2-40B4-BE49-F238E27FC236}">
                <a16:creationId xmlns:a16="http://schemas.microsoft.com/office/drawing/2014/main" id="{B378852C-9321-3531-970B-18B97CA1E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04" y="1475972"/>
            <a:ext cx="4023360" cy="416843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0A18949-2490-FCB1-5C3C-21BE552CC580}"/>
              </a:ext>
            </a:extLst>
          </p:cNvPr>
          <p:cNvSpPr txBox="1"/>
          <p:nvPr/>
        </p:nvSpPr>
        <p:spPr>
          <a:xfrm>
            <a:off x="5245677" y="1527735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previsões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B7717D-03C6-E1F5-3BC7-BA00E1D038E4}"/>
              </a:ext>
            </a:extLst>
          </p:cNvPr>
          <p:cNvSpPr txBox="1"/>
          <p:nvPr/>
        </p:nvSpPr>
        <p:spPr>
          <a:xfrm>
            <a:off x="5257800" y="2096771"/>
            <a:ext cx="494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pt-PT" sz="1800" b="1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neck</a:t>
            </a:r>
            <a:endParaRPr lang="pt-PT" sz="1800" b="1" dirty="0">
              <a:solidFill>
                <a:srgbClr val="1E1E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E29075D-1953-028E-9326-E69CBB714210}"/>
              </a:ext>
            </a:extLst>
          </p:cNvPr>
          <p:cNvSpPr txBox="1"/>
          <p:nvPr/>
        </p:nvSpPr>
        <p:spPr>
          <a:xfrm>
            <a:off x="7069455" y="2137098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>
                <a:solidFill>
                  <a:srgbClr val="0082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0,9872</a:t>
            </a:r>
            <a:endParaRPr sz="1700" b="1" dirty="0">
              <a:solidFill>
                <a:srgbClr val="0082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5C8DFE-B1F6-BEA8-6EAE-6003F0DE32C6}"/>
              </a:ext>
            </a:extLst>
          </p:cNvPr>
          <p:cNvSpPr txBox="1"/>
          <p:nvPr/>
        </p:nvSpPr>
        <p:spPr>
          <a:xfrm>
            <a:off x="5248135" y="2605927"/>
            <a:ext cx="494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PT" b="1" dirty="0" err="1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endParaRPr lang="pt-PT" sz="1800" b="1" dirty="0">
              <a:solidFill>
                <a:srgbClr val="1E1E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425FB5-0107-B12E-547E-B52DA597E527}"/>
              </a:ext>
            </a:extLst>
          </p:cNvPr>
          <p:cNvSpPr txBox="1"/>
          <p:nvPr/>
        </p:nvSpPr>
        <p:spPr>
          <a:xfrm>
            <a:off x="5257800" y="3114164"/>
            <a:ext cx="494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Renda</a:t>
            </a:r>
            <a:endParaRPr lang="pt-PT" sz="1800" b="1" dirty="0">
              <a:solidFill>
                <a:srgbClr val="1E1E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FBEB0D-9602-34B2-2145-0CAA36256350}"/>
              </a:ext>
            </a:extLst>
          </p:cNvPr>
          <p:cNvSpPr txBox="1"/>
          <p:nvPr/>
        </p:nvSpPr>
        <p:spPr>
          <a:xfrm>
            <a:off x="5257800" y="3614114"/>
            <a:ext cx="494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Chiffon</a:t>
            </a:r>
            <a:endParaRPr lang="pt-PT" sz="1800" b="1" dirty="0">
              <a:solidFill>
                <a:srgbClr val="1E1E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D43C2B-E0AF-C2B3-93F5-4A80E7055364}"/>
              </a:ext>
            </a:extLst>
          </p:cNvPr>
          <p:cNvSpPr txBox="1"/>
          <p:nvPr/>
        </p:nvSpPr>
        <p:spPr>
          <a:xfrm>
            <a:off x="5248135" y="4136995"/>
            <a:ext cx="494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Transparente</a:t>
            </a:r>
            <a:endParaRPr lang="pt-PT" sz="1800" b="1" dirty="0">
              <a:solidFill>
                <a:srgbClr val="1E1E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12B1AD-9A75-AB7D-C237-00888656ED8D}"/>
              </a:ext>
            </a:extLst>
          </p:cNvPr>
          <p:cNvSpPr txBox="1"/>
          <p:nvPr/>
        </p:nvSpPr>
        <p:spPr>
          <a:xfrm>
            <a:off x="5257800" y="4666103"/>
            <a:ext cx="494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E1E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Bordado</a:t>
            </a:r>
            <a:endParaRPr lang="pt-PT" sz="1800" b="1" dirty="0">
              <a:solidFill>
                <a:srgbClr val="1E1E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33A28643-F491-BB05-F198-9F881C0A8CBB}"/>
              </a:ext>
            </a:extLst>
          </p:cNvPr>
          <p:cNvSpPr txBox="1"/>
          <p:nvPr/>
        </p:nvSpPr>
        <p:spPr>
          <a:xfrm>
            <a:off x="7069455" y="2645412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>
                <a:solidFill>
                  <a:srgbClr val="0082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0,9769</a:t>
            </a:r>
            <a:endParaRPr sz="1700" b="1" dirty="0">
              <a:solidFill>
                <a:srgbClr val="0082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4678E2DF-40D4-67A5-4590-52322FE68530}"/>
              </a:ext>
            </a:extLst>
          </p:cNvPr>
          <p:cNvSpPr txBox="1"/>
          <p:nvPr/>
        </p:nvSpPr>
        <p:spPr>
          <a:xfrm>
            <a:off x="7069455" y="3140117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>
                <a:solidFill>
                  <a:srgbClr val="0082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0,9687</a:t>
            </a:r>
            <a:endParaRPr sz="1700" b="1" dirty="0">
              <a:solidFill>
                <a:srgbClr val="0082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219F35D7-D150-133F-8AEA-FEF14C2620B8}"/>
              </a:ext>
            </a:extLst>
          </p:cNvPr>
          <p:cNvSpPr txBox="1"/>
          <p:nvPr/>
        </p:nvSpPr>
        <p:spPr>
          <a:xfrm>
            <a:off x="7069455" y="3635857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>
                <a:solidFill>
                  <a:srgbClr val="0082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0,9403</a:t>
            </a:r>
            <a:endParaRPr sz="1700" b="1" dirty="0">
              <a:solidFill>
                <a:srgbClr val="0082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CC66EC6A-E418-E473-E690-FB3E8703719A}"/>
              </a:ext>
            </a:extLst>
          </p:cNvPr>
          <p:cNvSpPr txBox="1"/>
          <p:nvPr/>
        </p:nvSpPr>
        <p:spPr>
          <a:xfrm>
            <a:off x="7069455" y="4176571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>
                <a:solidFill>
                  <a:srgbClr val="0082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0,8250</a:t>
            </a:r>
            <a:endParaRPr sz="1700" b="1" dirty="0">
              <a:solidFill>
                <a:srgbClr val="0082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97249E1B-FE83-94FC-BC1B-E33A71BB416B}"/>
              </a:ext>
            </a:extLst>
          </p:cNvPr>
          <p:cNvSpPr txBox="1"/>
          <p:nvPr/>
        </p:nvSpPr>
        <p:spPr>
          <a:xfrm>
            <a:off x="7069455" y="4681492"/>
            <a:ext cx="1005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>
                <a:solidFill>
                  <a:srgbClr val="0082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0,7004</a:t>
            </a:r>
            <a:endParaRPr sz="1700" b="1" dirty="0">
              <a:solidFill>
                <a:srgbClr val="0082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44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8BF05-C844-D81B-B62C-D6748B6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50EEC053-B3E8-44F0-4FF5-F8F8F091E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Aplicação web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CAB6B56-CF97-6481-A12C-1C2FD3599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807351F-3693-E8B0-7FC8-4F78726B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045858-EEEE-3814-0A2F-222D4E5F8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E567C3CB-5146-CAA1-1AB0-DA038BF73F7D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182909E-7B26-2A71-F445-C5F0DEF04F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E4B6CF1F-6FE0-7C89-CF4F-8C9CB5E47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678899A-AEC0-9455-5CD4-9F2BC4CD0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00AB630-5252-16E7-C45B-9EA81ADA2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122CA52C-59E8-409A-3B8E-0175A6A8D3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DE6D43A-9A38-FA7B-EFAD-10AE6D6B44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AF1FCC2-B607-65B1-0BD9-F1050577320C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pic>
        <p:nvPicPr>
          <p:cNvPr id="2" name="Picture 6" descr="Captura de ecrã 2026-06-09 213128.png">
            <a:extLst>
              <a:ext uri="{FF2B5EF4-FFF2-40B4-BE49-F238E27FC236}">
                <a16:creationId xmlns:a16="http://schemas.microsoft.com/office/drawing/2014/main" id="{F69AD279-BC23-BF57-CBE5-12EC97B61A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1506451"/>
            <a:ext cx="2889719" cy="2140027"/>
          </a:xfrm>
          <a:prstGeom prst="rect">
            <a:avLst/>
          </a:prstGeom>
        </p:spPr>
      </p:pic>
      <p:pic>
        <p:nvPicPr>
          <p:cNvPr id="4" name="Picture 8" descr="Captura de ecrã 2026-06-09 212121.png">
            <a:extLst>
              <a:ext uri="{FF2B5EF4-FFF2-40B4-BE49-F238E27FC236}">
                <a16:creationId xmlns:a16="http://schemas.microsoft.com/office/drawing/2014/main" id="{BAA8DE64-C205-4469-7E61-4AFE3F16A9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7140" y="1293198"/>
            <a:ext cx="2889719" cy="2872780"/>
          </a:xfrm>
          <a:prstGeom prst="rect">
            <a:avLst/>
          </a:prstGeom>
        </p:spPr>
      </p:pic>
      <p:pic>
        <p:nvPicPr>
          <p:cNvPr id="5" name="Picture 10" descr="Captura de ecrã 2026-06-09 212428.png">
            <a:extLst>
              <a:ext uri="{FF2B5EF4-FFF2-40B4-BE49-F238E27FC236}">
                <a16:creationId xmlns:a16="http://schemas.microsoft.com/office/drawing/2014/main" id="{513A3B91-E601-0C0E-5D1C-26C9F37265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391" y="1339506"/>
            <a:ext cx="2630762" cy="266521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473F344-FF88-C30B-B667-9C8A05CA5A01}"/>
              </a:ext>
            </a:extLst>
          </p:cNvPr>
          <p:cNvSpPr txBox="1"/>
          <p:nvPr/>
        </p:nvSpPr>
        <p:spPr>
          <a:xfrm>
            <a:off x="1263468" y="4471850"/>
            <a:ext cx="6843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dirty="0">
                <a:solidFill>
                  <a:srgbClr val="303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Fluxo testado: abrir app -&gt; escolher imagem -&gt; ajustar confiança -&gt; analisar -&gt; ver atributos.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2D9A592-58C3-B525-9482-41AAF8A555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07" y="5236672"/>
            <a:ext cx="7376799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8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ED74-A569-CEF8-FA36-6E8E2B814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7ECB070E-ECD4-B6A4-284F-A88FC233F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Vídeo da aplicação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0CC6CEA-1ABD-076D-C935-8FD600A43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65A8E7D-2866-659F-E18E-37FB005D1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01FE915-81C4-3DDE-3B97-3764B844F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57883DF6-CFFE-460F-B425-46041A9C1EAC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79729D2-21CD-6764-D78F-750630605B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FFB408E8-1D1D-D86F-D6F3-3245D482B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DBCB0CB2-2D67-DA65-E058-DD6EF31A2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A073E4F-385D-5280-D738-2E5733DE68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F02655A5-52D7-6D54-76A9-ECD8E262420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CC8F567-C40E-ACF9-3793-E481249244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726F1EB-CC26-B58C-159F-4C75F7762424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pic>
        <p:nvPicPr>
          <p:cNvPr id="2" name="video_fluxo_aplicacao.mp4">
            <a:hlinkClick r:id="" action="ppaction://media"/>
            <a:extLst>
              <a:ext uri="{FF2B5EF4-FFF2-40B4-BE49-F238E27FC236}">
                <a16:creationId xmlns:a16="http://schemas.microsoft.com/office/drawing/2014/main" id="{FC161725-0FBE-C363-1212-050380FB88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40117" y="1365246"/>
            <a:ext cx="7263765" cy="471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4093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6CF2-5A3B-BAAE-F52C-48E5B475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BED16DA6-0EBB-3E25-840D-213048ACD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Limitações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EFF8913-FF9F-AD26-6D81-51917C59A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1BB162E-2016-B5D6-84D9-21CAC46C3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6D6838-AAC5-CDAD-965C-8C422CD2D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C1C36D6F-1094-976E-7466-B26088D9BAA8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C1BEFA1-7B1B-E3DB-B2EF-1B97730676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166F42C7-837D-BC48-26FB-DB9C40B30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F2B79472-C5D8-6DFD-C2A0-BBAEC964E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C309C1F-6039-CCA5-A17A-7E197B9ED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3E18A49A-A897-F497-C2BB-79C85DE090D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1EDFBBC-A648-2CBF-A519-69F4317E05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FD00239-5E8F-F613-06E5-B31CFA3A83A3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E98A46-76BE-4ADD-EA07-06F31E960D5A}"/>
              </a:ext>
            </a:extLst>
          </p:cNvPr>
          <p:cNvSpPr txBox="1"/>
          <p:nvPr/>
        </p:nvSpPr>
        <p:spPr>
          <a:xfrm>
            <a:off x="511104" y="1477692"/>
            <a:ext cx="6880296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 F1 macro ainda é baixo para uso real.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 treino foi limitado a um número máximo de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batches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Foram usados apenas 50 atributos.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Alguns atributos são difíceis de distinguir visualmente.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E1E22"/>
                </a:solidFill>
                <a:latin typeface="Calibri"/>
              </a:defRPr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 qualidade da imagem influencia bastante a previsão.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3FC830-5DAE-BDF1-085A-6FC4EF485770}"/>
              </a:ext>
            </a:extLst>
          </p:cNvPr>
          <p:cNvSpPr txBox="1"/>
          <p:nvPr/>
        </p:nvSpPr>
        <p:spPr>
          <a:xfrm>
            <a:off x="1562100" y="4407522"/>
            <a:ext cx="601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dirty="0">
                <a:solidFill>
                  <a:srgbClr val="303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funciona como protótipo, mas ainda precisa de mais treino e avaliação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760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3F97-47A5-BCD5-4F0B-05737CAE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34B3886D-9E40-80E8-CD17-88FC1DA2A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CE693BA-6C63-8866-AA33-F3692BB56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F8FB2C4-6122-44ED-6FFB-52911905C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AC377F-140D-E966-5F18-2161E98D9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B166EE31-4184-01DC-C7DE-4F0649F1C2EC}"/>
              </a:ext>
            </a:extLst>
          </p:cNvPr>
          <p:cNvSpPr/>
          <p:nvPr/>
        </p:nvSpPr>
        <p:spPr>
          <a:xfrm>
            <a:off x="5535613" y="51054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4FDD690-BB95-9710-D16E-FEF11F278E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666" y="-10498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76C9C14E-4C6E-F311-B3EF-09C70480E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A6A4E200-BB55-41B5-2650-F9603D1E9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B30B4C5-45E8-779C-5447-19DA866D9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E658720D-110E-7340-CAB1-3B73EEECD82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31414 - Inês Delgado, 31427 - Filipa Calheiros 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6630D46-F245-6A98-435F-D7F99BFD87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28C188D-CAB0-C8BF-75B9-C46333E9F716}"/>
              </a:ext>
            </a:extLst>
          </p:cNvPr>
          <p:cNvSpPr txBox="1"/>
          <p:nvPr/>
        </p:nvSpPr>
        <p:spPr>
          <a:xfrm>
            <a:off x="3253966" y="711134"/>
            <a:ext cx="58614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100" b="1" dirty="0">
                <a:latin typeface="Arial" charset="0"/>
                <a:cs typeface="Arial" charset="0"/>
              </a:rPr>
              <a:t>Classificação de Atributos de Vestuário</a:t>
            </a:r>
            <a:endParaRPr lang="pt-PT" sz="11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121B75-C3DE-185C-94CB-018D92ACC84C}"/>
              </a:ext>
            </a:extLst>
          </p:cNvPr>
          <p:cNvSpPr txBox="1"/>
          <p:nvPr/>
        </p:nvSpPr>
        <p:spPr>
          <a:xfrm>
            <a:off x="511104" y="1527735"/>
            <a:ext cx="77772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22"/>
                </a:solidFill>
                <a:latin typeface="Calibri"/>
              </a:defRPr>
            </a:pPr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Foi criada uma pipeline completa: dados, treino, inferência e interface.</a:t>
            </a:r>
          </a:p>
          <a:p>
            <a:pPr>
              <a:spcAft>
                <a:spcPts val="800"/>
              </a:spcAft>
              <a:defRPr sz="2000">
                <a:solidFill>
                  <a:srgbClr val="1E1E22"/>
                </a:solidFill>
                <a:latin typeface="Calibri"/>
              </a:defRPr>
            </a:pPr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A abordagem </a:t>
            </a:r>
            <a:r>
              <a:rPr lang="pt-PT" sz="1900" dirty="0" err="1">
                <a:latin typeface="Arial" panose="020B0604020202020204" pitchFamily="34" charset="0"/>
                <a:cs typeface="Arial" panose="020B0604020202020204" pitchFamily="34" charset="0"/>
              </a:rPr>
              <a:t>multi-label</a:t>
            </a:r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 é adequada ao problema.</a:t>
            </a:r>
          </a:p>
          <a:p>
            <a:pPr>
              <a:spcAft>
                <a:spcPts val="800"/>
              </a:spcAft>
              <a:defRPr sz="2000">
                <a:solidFill>
                  <a:srgbClr val="1E1E22"/>
                </a:solidFill>
                <a:latin typeface="Calibri"/>
              </a:defRPr>
            </a:pPr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O modelo treinado foi integrado numa aplicação funcional.</a:t>
            </a:r>
          </a:p>
          <a:p>
            <a:pPr>
              <a:spcAft>
                <a:spcPts val="800"/>
              </a:spcAft>
              <a:defRPr sz="2000">
                <a:solidFill>
                  <a:srgbClr val="1E1E22"/>
                </a:solidFill>
                <a:latin typeface="Calibri"/>
              </a:defRPr>
            </a:pPr>
            <a:r>
              <a:rPr lang="pt-PT" sz="1900" dirty="0">
                <a:latin typeface="Arial" panose="020B0604020202020204" pitchFamily="34" charset="0"/>
                <a:cs typeface="Arial" panose="020B0604020202020204" pitchFamily="34" charset="0"/>
              </a:rPr>
              <a:t>Os resultados mostram potencial, mas também limitações claras.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50E0A2A-5BCC-2583-AB1E-57DCAE12A79B}"/>
              </a:ext>
            </a:extLst>
          </p:cNvPr>
          <p:cNvSpPr txBox="1"/>
          <p:nvPr/>
        </p:nvSpPr>
        <p:spPr>
          <a:xfrm>
            <a:off x="1485900" y="4547349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dirty="0">
                <a:solidFill>
                  <a:srgbClr val="303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imagem de roupa pode ser transformada numa lista estruturada de atributos.</a:t>
            </a:r>
          </a:p>
        </p:txBody>
      </p:sp>
    </p:spTree>
    <p:extLst>
      <p:ext uri="{BB962C8B-B14F-4D97-AF65-F5344CB8AC3E}">
        <p14:creationId xmlns:p14="http://schemas.microsoft.com/office/powerpoint/2010/main" val="1676354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5875</TotalTime>
  <Words>921</Words>
  <Application>Microsoft Office PowerPoint</Application>
  <PresentationFormat>Apresentação no Ecrã (4:3)</PresentationFormat>
  <Paragraphs>148</Paragraphs>
  <Slides>14</Slides>
  <Notes>13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 do Office</vt:lpstr>
      <vt:lpstr>LICENCIATURA EM ENGENHARIA INFORMÁTICA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Inês Delgado</cp:lastModifiedBy>
  <cp:revision>305</cp:revision>
  <cp:lastPrinted>2021-02-22T18:49:33Z</cp:lastPrinted>
  <dcterms:created xsi:type="dcterms:W3CDTF">2011-05-31T09:21:51Z</dcterms:created>
  <dcterms:modified xsi:type="dcterms:W3CDTF">2026-06-11T13:13:53Z</dcterms:modified>
</cp:coreProperties>
</file>